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Performance Report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Categories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Analysis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PopStop Ltd  ·  Prepared by Tim Su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217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Total Company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241280" y="9144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91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94944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97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$444,953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9144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1097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$241,857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434840" y="21488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Week 2025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Ref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9144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6760" y="1097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366760" y="21488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This Week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6676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Same Week 2025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474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$7,374,965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02920" y="4526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2026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892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To Date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32918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34840" y="3474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$5,002,623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434840" y="4526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2025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34840" y="4892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Period 2025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32918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66760" y="3474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+47.4%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8366760" y="4526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YoY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66760" y="4892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vs 2025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 — WK 29 vs Same Week 2025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241280" y="9144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91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94944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256032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498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62656" y="749808"/>
            <a:ext cx="123444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62656" y="7498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Wk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33672" y="749808"/>
            <a:ext cx="123444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3672" y="7498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Wk 2026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04688" y="749808"/>
            <a:ext cx="91440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4688" y="7498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Δ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55664" y="749808"/>
            <a:ext cx="123444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7498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Wk 2025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26680" y="749808"/>
            <a:ext cx="82296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7498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586216" y="749808"/>
            <a:ext cx="123444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86216" y="7498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857232" y="749808"/>
            <a:ext cx="123444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7498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2025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128248" y="749808"/>
            <a:ext cx="82296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28248" y="7498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YoY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1133856"/>
            <a:ext cx="11475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116128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Card Games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90088" y="116128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$210,246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261104" y="116128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$37,546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32120" y="1161288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+$172,700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83096" y="116128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$81,914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754112" y="116128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+156.7%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613648" y="116128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$2,076,367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884664" y="116128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$898,471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155680" y="116128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+131.1%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1435608"/>
            <a:ext cx="11475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146304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Box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90088" y="146304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$94,599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261104" y="146304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$96,013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32120" y="1463040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$1,414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83096" y="146304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$72,217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754112" y="146304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+31%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613648" y="146304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$2,012,024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884664" y="146304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$1,606,310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155680" y="146304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+25.3%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1737360"/>
            <a:ext cx="11475720" cy="274320"/>
          </a:xfrm>
          <a:prstGeom prst="rect">
            <a:avLst/>
          </a:prstGeom>
          <a:solidFill>
            <a:srgbClr val="FFF3E0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" y="17647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Pop! Vinyl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90088" y="176479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$51,133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261104" y="176479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$51,249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532120" y="176479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$116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483096" y="176479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$35,538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754112" y="176479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+43.9%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613648" y="176479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$1,263,738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884664" y="176479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$904,007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155680" y="176479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+39.8%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5760" y="2039112"/>
            <a:ext cx="11475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3192" y="2066544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0088" y="206654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$30,142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261104" y="206654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$30,013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532120" y="206654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+$129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483096" y="206654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$14,077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754112" y="206654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+114.1%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613648" y="206654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$584,498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9884664" y="206654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$350,990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1155680" y="206654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+66.5%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65760" y="2340864"/>
            <a:ext cx="11475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93192" y="23682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Kits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990088" y="236829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$13,386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261104" y="236829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$10,399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532120" y="236829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+$2,987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483096" y="236829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$3,868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754112" y="236829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+246.1%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613648" y="236829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$246,406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9884664" y="236829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$177,925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1155680" y="236829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+38.5%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65760" y="2642616"/>
            <a:ext cx="11475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93192" y="267004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2990088" y="267004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$7,308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261104" y="267004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$10,148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532120" y="2670048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$2,840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483096" y="267004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$5,384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754112" y="267004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+35.7%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8613648" y="267004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$183,785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9884664" y="267004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$182,862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1155680" y="267004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+0.5%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65760" y="2944368"/>
            <a:ext cx="11475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93192" y="297180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Vinyl Figures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2990088" y="297180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$6,820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4261104" y="297180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$15,008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532120" y="2971800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$8,188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483096" y="297180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$1,048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754112" y="29718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+550.5%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8613648" y="297180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$146,980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9884664" y="297180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$57,667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1155680" y="29718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+154.9%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365760" y="3246120"/>
            <a:ext cx="11475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93192" y="327355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Keychains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2990088" y="327355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$5,833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4261104" y="327355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5532120" y="327355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$167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6483096" y="327355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$4,458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7754112" y="32735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+30.9%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8613648" y="327355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$133,956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9884664" y="327355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$135,445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11155680" y="32735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-1.1%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65760" y="3547872"/>
            <a:ext cx="11475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93192" y="3575304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 &amp; Prints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2990088" y="357530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$2,903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4261104" y="357530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$2,832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5532120" y="357530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+$71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6483096" y="357530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$1,321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7754112" y="357530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+119.7%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8613648" y="357530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$59,756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9884664" y="357530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$37,093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11155680" y="357530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+61.1%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365760" y="3849624"/>
            <a:ext cx="11475720" cy="274320"/>
          </a:xfrm>
          <a:prstGeom prst="rect">
            <a:avLst/>
          </a:prstGeom>
          <a:solidFill>
            <a:srgbClr val="FFF3E0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93192" y="387705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Die-Cast Cars &amp; Figures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2990088" y="387705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$2,787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4261104" y="387705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$3,412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5532120" y="387705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$625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6483096" y="387705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$3,785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7754112" y="38770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-26.4%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8613648" y="387705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$69,580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9884664" y="387705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$88,858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11155680" y="38770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-21.7%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365760" y="4151376"/>
            <a:ext cx="11475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93192" y="417880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Plush</a:t>
            </a:r>
            <a:endParaRPr lang="en-US" sz="850" dirty="0"/>
          </a:p>
        </p:txBody>
      </p:sp>
      <p:sp>
        <p:nvSpPr>
          <p:cNvPr id="126" name="Text 124"/>
          <p:cNvSpPr/>
          <p:nvPr/>
        </p:nvSpPr>
        <p:spPr>
          <a:xfrm>
            <a:off x="2990088" y="417880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$2,738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4261104" y="417880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$3,494</a:t>
            </a:r>
            <a:endParaRPr lang="en-US" sz="850" dirty="0"/>
          </a:p>
        </p:txBody>
      </p:sp>
      <p:sp>
        <p:nvSpPr>
          <p:cNvPr id="128" name="Text 126"/>
          <p:cNvSpPr/>
          <p:nvPr/>
        </p:nvSpPr>
        <p:spPr>
          <a:xfrm>
            <a:off x="5532120" y="4178808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$756</a:t>
            </a:r>
            <a:endParaRPr lang="en-US" sz="850" dirty="0"/>
          </a:p>
        </p:txBody>
      </p:sp>
      <p:sp>
        <p:nvSpPr>
          <p:cNvPr id="129" name="Text 127"/>
          <p:cNvSpPr/>
          <p:nvPr/>
        </p:nvSpPr>
        <p:spPr>
          <a:xfrm>
            <a:off x="6483096" y="417880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$3,299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7754112" y="417880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-17%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8613648" y="417880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$78,108</a:t>
            </a:r>
            <a:endParaRPr lang="en-US" sz="850" dirty="0"/>
          </a:p>
        </p:txBody>
      </p:sp>
      <p:sp>
        <p:nvSpPr>
          <p:cNvPr id="132" name="Text 130"/>
          <p:cNvSpPr/>
          <p:nvPr/>
        </p:nvSpPr>
        <p:spPr>
          <a:xfrm>
            <a:off x="9884664" y="417880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$119,195</a:t>
            </a:r>
            <a:endParaRPr lang="en-US" sz="850" dirty="0"/>
          </a:p>
        </p:txBody>
      </p:sp>
      <p:sp>
        <p:nvSpPr>
          <p:cNvPr id="133" name="Text 131"/>
          <p:cNvSpPr/>
          <p:nvPr/>
        </p:nvSpPr>
        <p:spPr>
          <a:xfrm>
            <a:off x="11155680" y="417880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-34.5%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365760" y="4453128"/>
            <a:ext cx="11475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93192" y="448056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Ichiban Kuji</a:t>
            </a:r>
            <a:endParaRPr lang="en-US" sz="850" dirty="0"/>
          </a:p>
        </p:txBody>
      </p:sp>
      <p:sp>
        <p:nvSpPr>
          <p:cNvPr id="136" name="Text 134"/>
          <p:cNvSpPr/>
          <p:nvPr/>
        </p:nvSpPr>
        <p:spPr>
          <a:xfrm>
            <a:off x="2990088" y="448056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$2,499</a:t>
            </a:r>
            <a:endParaRPr lang="en-US" sz="850" dirty="0"/>
          </a:p>
        </p:txBody>
      </p:sp>
      <p:sp>
        <p:nvSpPr>
          <p:cNvPr id="137" name="Text 135"/>
          <p:cNvSpPr/>
          <p:nvPr/>
        </p:nvSpPr>
        <p:spPr>
          <a:xfrm>
            <a:off x="4261104" y="448056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$2,208</a:t>
            </a:r>
            <a:endParaRPr lang="en-US" sz="850" dirty="0"/>
          </a:p>
        </p:txBody>
      </p:sp>
      <p:sp>
        <p:nvSpPr>
          <p:cNvPr id="138" name="Text 136"/>
          <p:cNvSpPr/>
          <p:nvPr/>
        </p:nvSpPr>
        <p:spPr>
          <a:xfrm>
            <a:off x="5532120" y="4480560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+$291</a:t>
            </a:r>
            <a:endParaRPr lang="en-US" sz="850" dirty="0"/>
          </a:p>
        </p:txBody>
      </p:sp>
      <p:sp>
        <p:nvSpPr>
          <p:cNvPr id="139" name="Text 137"/>
          <p:cNvSpPr/>
          <p:nvPr/>
        </p:nvSpPr>
        <p:spPr>
          <a:xfrm>
            <a:off x="6483096" y="448056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$540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7754112" y="448056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+362.8%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8613648" y="448056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$41,886</a:t>
            </a:r>
            <a:endParaRPr lang="en-US" sz="850" dirty="0"/>
          </a:p>
        </p:txBody>
      </p:sp>
      <p:sp>
        <p:nvSpPr>
          <p:cNvPr id="142" name="Text 140"/>
          <p:cNvSpPr/>
          <p:nvPr/>
        </p:nvSpPr>
        <p:spPr>
          <a:xfrm>
            <a:off x="9884664" y="448056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$601</a:t>
            </a:r>
            <a:endParaRPr lang="en-US" sz="850" dirty="0"/>
          </a:p>
        </p:txBody>
      </p:sp>
      <p:sp>
        <p:nvSpPr>
          <p:cNvPr id="143" name="Text 141"/>
          <p:cNvSpPr/>
          <p:nvPr/>
        </p:nvSpPr>
        <p:spPr>
          <a:xfrm>
            <a:off x="11155680" y="448056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+6871.7%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365760" y="4754880"/>
            <a:ext cx="11475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393192" y="478231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Candy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2990088" y="478231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$2,406</a:t>
            </a:r>
            <a:endParaRPr lang="en-US" sz="850" dirty="0"/>
          </a:p>
        </p:txBody>
      </p:sp>
      <p:sp>
        <p:nvSpPr>
          <p:cNvPr id="147" name="Text 145"/>
          <p:cNvSpPr/>
          <p:nvPr/>
        </p:nvSpPr>
        <p:spPr>
          <a:xfrm>
            <a:off x="4261104" y="478231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$4,016</a:t>
            </a:r>
            <a:endParaRPr lang="en-US" sz="850" dirty="0"/>
          </a:p>
        </p:txBody>
      </p:sp>
      <p:sp>
        <p:nvSpPr>
          <p:cNvPr id="148" name="Text 146"/>
          <p:cNvSpPr/>
          <p:nvPr/>
        </p:nvSpPr>
        <p:spPr>
          <a:xfrm>
            <a:off x="5532120" y="478231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$1,610</a:t>
            </a:r>
            <a:endParaRPr lang="en-US" sz="850" dirty="0"/>
          </a:p>
        </p:txBody>
      </p:sp>
      <p:sp>
        <p:nvSpPr>
          <p:cNvPr id="149" name="Text 147"/>
          <p:cNvSpPr/>
          <p:nvPr/>
        </p:nvSpPr>
        <p:spPr>
          <a:xfrm>
            <a:off x="6483096" y="478231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$1,844</a:t>
            </a:r>
            <a:endParaRPr lang="en-US" sz="850" dirty="0"/>
          </a:p>
        </p:txBody>
      </p:sp>
      <p:sp>
        <p:nvSpPr>
          <p:cNvPr id="150" name="Text 148"/>
          <p:cNvSpPr/>
          <p:nvPr/>
        </p:nvSpPr>
        <p:spPr>
          <a:xfrm>
            <a:off x="7754112" y="478231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+30.5%</a:t>
            </a:r>
            <a:endParaRPr lang="en-US" sz="850" dirty="0"/>
          </a:p>
        </p:txBody>
      </p:sp>
      <p:sp>
        <p:nvSpPr>
          <p:cNvPr id="151" name="Text 149"/>
          <p:cNvSpPr/>
          <p:nvPr/>
        </p:nvSpPr>
        <p:spPr>
          <a:xfrm>
            <a:off x="8613648" y="478231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$95,780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9884664" y="478231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$64,196</a:t>
            </a:r>
            <a:endParaRPr lang="en-US" sz="850" dirty="0"/>
          </a:p>
        </p:txBody>
      </p:sp>
      <p:sp>
        <p:nvSpPr>
          <p:cNvPr id="153" name="Text 151"/>
          <p:cNvSpPr/>
          <p:nvPr/>
        </p:nvSpPr>
        <p:spPr>
          <a:xfrm>
            <a:off x="11155680" y="478231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+49.2%</a:t>
            </a:r>
            <a:endParaRPr lang="en-US" sz="850" dirty="0"/>
          </a:p>
        </p:txBody>
      </p:sp>
      <p:sp>
        <p:nvSpPr>
          <p:cNvPr id="154" name="Shape 152"/>
          <p:cNvSpPr/>
          <p:nvPr/>
        </p:nvSpPr>
        <p:spPr>
          <a:xfrm>
            <a:off x="365760" y="5056632"/>
            <a:ext cx="11475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393192" y="5084064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Bitty Pop!</a:t>
            </a:r>
            <a:endParaRPr lang="en-US" sz="850" dirty="0"/>
          </a:p>
        </p:txBody>
      </p:sp>
      <p:sp>
        <p:nvSpPr>
          <p:cNvPr id="156" name="Text 154"/>
          <p:cNvSpPr/>
          <p:nvPr/>
        </p:nvSpPr>
        <p:spPr>
          <a:xfrm>
            <a:off x="2990088" y="508406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$2,324</a:t>
            </a:r>
            <a:endParaRPr lang="en-US" sz="850" dirty="0"/>
          </a:p>
        </p:txBody>
      </p:sp>
      <p:sp>
        <p:nvSpPr>
          <p:cNvPr id="157" name="Text 155"/>
          <p:cNvSpPr/>
          <p:nvPr/>
        </p:nvSpPr>
        <p:spPr>
          <a:xfrm>
            <a:off x="4261104" y="508406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$1,912</a:t>
            </a:r>
            <a:endParaRPr lang="en-US" sz="850" dirty="0"/>
          </a:p>
        </p:txBody>
      </p:sp>
      <p:sp>
        <p:nvSpPr>
          <p:cNvPr id="158" name="Text 156"/>
          <p:cNvSpPr/>
          <p:nvPr/>
        </p:nvSpPr>
        <p:spPr>
          <a:xfrm>
            <a:off x="5532120" y="508406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+$412</a:t>
            </a:r>
            <a:endParaRPr lang="en-US" sz="850" dirty="0"/>
          </a:p>
        </p:txBody>
      </p:sp>
      <p:sp>
        <p:nvSpPr>
          <p:cNvPr id="159" name="Text 157"/>
          <p:cNvSpPr/>
          <p:nvPr/>
        </p:nvSpPr>
        <p:spPr>
          <a:xfrm>
            <a:off x="6483096" y="508406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$4,042</a:t>
            </a:r>
            <a:endParaRPr lang="en-US" sz="850" dirty="0"/>
          </a:p>
        </p:txBody>
      </p:sp>
      <p:sp>
        <p:nvSpPr>
          <p:cNvPr id="160" name="Text 158"/>
          <p:cNvSpPr/>
          <p:nvPr/>
        </p:nvSpPr>
        <p:spPr>
          <a:xfrm>
            <a:off x="7754112" y="508406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-42.5%</a:t>
            </a:r>
            <a:endParaRPr lang="en-US" sz="850" dirty="0"/>
          </a:p>
        </p:txBody>
      </p:sp>
      <p:sp>
        <p:nvSpPr>
          <p:cNvPr id="161" name="Text 159"/>
          <p:cNvSpPr/>
          <p:nvPr/>
        </p:nvSpPr>
        <p:spPr>
          <a:xfrm>
            <a:off x="8613648" y="508406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$65,373</a:t>
            </a:r>
            <a:endParaRPr lang="en-US" sz="850" dirty="0"/>
          </a:p>
        </p:txBody>
      </p:sp>
      <p:sp>
        <p:nvSpPr>
          <p:cNvPr id="162" name="Text 160"/>
          <p:cNvSpPr/>
          <p:nvPr/>
        </p:nvSpPr>
        <p:spPr>
          <a:xfrm>
            <a:off x="9884664" y="508406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$81,017</a:t>
            </a:r>
            <a:endParaRPr lang="en-US" sz="850" dirty="0"/>
          </a:p>
        </p:txBody>
      </p:sp>
      <p:sp>
        <p:nvSpPr>
          <p:cNvPr id="163" name="Text 161"/>
          <p:cNvSpPr/>
          <p:nvPr/>
        </p:nvSpPr>
        <p:spPr>
          <a:xfrm>
            <a:off x="11155680" y="508406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-19.3%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365760" y="5358384"/>
            <a:ext cx="11475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393192" y="538581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Figures</a:t>
            </a:r>
            <a:endParaRPr lang="en-US" sz="850" dirty="0"/>
          </a:p>
        </p:txBody>
      </p:sp>
      <p:sp>
        <p:nvSpPr>
          <p:cNvPr id="166" name="Text 164"/>
          <p:cNvSpPr/>
          <p:nvPr/>
        </p:nvSpPr>
        <p:spPr>
          <a:xfrm>
            <a:off x="2990088" y="538581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$2,168</a:t>
            </a:r>
            <a:endParaRPr lang="en-US" sz="850" dirty="0"/>
          </a:p>
        </p:txBody>
      </p:sp>
      <p:sp>
        <p:nvSpPr>
          <p:cNvPr id="167" name="Text 165"/>
          <p:cNvSpPr/>
          <p:nvPr/>
        </p:nvSpPr>
        <p:spPr>
          <a:xfrm>
            <a:off x="4261104" y="538581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$4,091</a:t>
            </a:r>
            <a:endParaRPr lang="en-US" sz="850" dirty="0"/>
          </a:p>
        </p:txBody>
      </p:sp>
      <p:sp>
        <p:nvSpPr>
          <p:cNvPr id="168" name="Text 166"/>
          <p:cNvSpPr/>
          <p:nvPr/>
        </p:nvSpPr>
        <p:spPr>
          <a:xfrm>
            <a:off x="5532120" y="538581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$1,923</a:t>
            </a:r>
            <a:endParaRPr lang="en-US" sz="850" dirty="0"/>
          </a:p>
        </p:txBody>
      </p:sp>
      <p:sp>
        <p:nvSpPr>
          <p:cNvPr id="169" name="Text 167"/>
          <p:cNvSpPr/>
          <p:nvPr/>
        </p:nvSpPr>
        <p:spPr>
          <a:xfrm>
            <a:off x="6483096" y="538581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$1,461</a:t>
            </a:r>
            <a:endParaRPr lang="en-US" sz="850" dirty="0"/>
          </a:p>
        </p:txBody>
      </p:sp>
      <p:sp>
        <p:nvSpPr>
          <p:cNvPr id="170" name="Text 168"/>
          <p:cNvSpPr/>
          <p:nvPr/>
        </p:nvSpPr>
        <p:spPr>
          <a:xfrm>
            <a:off x="7754112" y="538581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+48.4%</a:t>
            </a:r>
            <a:endParaRPr lang="en-US" sz="850" dirty="0"/>
          </a:p>
        </p:txBody>
      </p:sp>
      <p:sp>
        <p:nvSpPr>
          <p:cNvPr id="171" name="Text 169"/>
          <p:cNvSpPr/>
          <p:nvPr/>
        </p:nvSpPr>
        <p:spPr>
          <a:xfrm>
            <a:off x="8613648" y="538581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$86,429</a:t>
            </a:r>
            <a:endParaRPr lang="en-US" sz="850" dirty="0"/>
          </a:p>
        </p:txBody>
      </p:sp>
      <p:sp>
        <p:nvSpPr>
          <p:cNvPr id="172" name="Text 170"/>
          <p:cNvSpPr/>
          <p:nvPr/>
        </p:nvSpPr>
        <p:spPr>
          <a:xfrm>
            <a:off x="9884664" y="538581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$64,076</a:t>
            </a:r>
            <a:endParaRPr lang="en-US" sz="850" dirty="0"/>
          </a:p>
        </p:txBody>
      </p:sp>
      <p:sp>
        <p:nvSpPr>
          <p:cNvPr id="173" name="Text 171"/>
          <p:cNvSpPr/>
          <p:nvPr/>
        </p:nvSpPr>
        <p:spPr>
          <a:xfrm>
            <a:off x="11155680" y="538581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+34.9%</a:t>
            </a:r>
            <a:endParaRPr lang="en-US" sz="850" dirty="0"/>
          </a:p>
        </p:txBody>
      </p:sp>
      <p:sp>
        <p:nvSpPr>
          <p:cNvPr id="174" name="Shape 172"/>
          <p:cNvSpPr/>
          <p:nvPr/>
        </p:nvSpPr>
        <p:spPr>
          <a:xfrm>
            <a:off x="365760" y="5660136"/>
            <a:ext cx="11475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93192" y="568756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850" dirty="0"/>
          </a:p>
        </p:txBody>
      </p:sp>
      <p:sp>
        <p:nvSpPr>
          <p:cNvPr id="176" name="Text 174"/>
          <p:cNvSpPr/>
          <p:nvPr/>
        </p:nvSpPr>
        <p:spPr>
          <a:xfrm>
            <a:off x="2990088" y="568756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$1,806</a:t>
            </a:r>
            <a:endParaRPr lang="en-US" sz="850" dirty="0"/>
          </a:p>
        </p:txBody>
      </p:sp>
      <p:sp>
        <p:nvSpPr>
          <p:cNvPr id="177" name="Text 175"/>
          <p:cNvSpPr/>
          <p:nvPr/>
        </p:nvSpPr>
        <p:spPr>
          <a:xfrm>
            <a:off x="4261104" y="568756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$1,878</a:t>
            </a:r>
            <a:endParaRPr lang="en-US" sz="850" dirty="0"/>
          </a:p>
        </p:txBody>
      </p:sp>
      <p:sp>
        <p:nvSpPr>
          <p:cNvPr id="178" name="Text 176"/>
          <p:cNvSpPr/>
          <p:nvPr/>
        </p:nvSpPr>
        <p:spPr>
          <a:xfrm>
            <a:off x="5532120" y="5687568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</a:t>
            </a:r>
            <a:endParaRPr lang="en-US" sz="850" dirty="0"/>
          </a:p>
        </p:txBody>
      </p:sp>
      <p:sp>
        <p:nvSpPr>
          <p:cNvPr id="179" name="Text 177"/>
          <p:cNvSpPr/>
          <p:nvPr/>
        </p:nvSpPr>
        <p:spPr>
          <a:xfrm>
            <a:off x="6483096" y="568756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$2,639</a:t>
            </a:r>
            <a:endParaRPr lang="en-US" sz="850" dirty="0"/>
          </a:p>
        </p:txBody>
      </p:sp>
      <p:sp>
        <p:nvSpPr>
          <p:cNvPr id="180" name="Text 178"/>
          <p:cNvSpPr/>
          <p:nvPr/>
        </p:nvSpPr>
        <p:spPr>
          <a:xfrm>
            <a:off x="7754112" y="568756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-31.6%</a:t>
            </a:r>
            <a:endParaRPr lang="en-US" sz="850" dirty="0"/>
          </a:p>
        </p:txBody>
      </p:sp>
      <p:sp>
        <p:nvSpPr>
          <p:cNvPr id="181" name="Text 179"/>
          <p:cNvSpPr/>
          <p:nvPr/>
        </p:nvSpPr>
        <p:spPr>
          <a:xfrm>
            <a:off x="8613648" y="568756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$49,487</a:t>
            </a:r>
            <a:endParaRPr lang="en-US" sz="850" dirty="0"/>
          </a:p>
        </p:txBody>
      </p:sp>
      <p:sp>
        <p:nvSpPr>
          <p:cNvPr id="182" name="Text 180"/>
          <p:cNvSpPr/>
          <p:nvPr/>
        </p:nvSpPr>
        <p:spPr>
          <a:xfrm>
            <a:off x="9884664" y="568756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$60,084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11155680" y="568756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-17.6%</a:t>
            </a:r>
            <a:endParaRPr lang="en-US" sz="850" dirty="0"/>
          </a:p>
        </p:txBody>
      </p:sp>
      <p:sp>
        <p:nvSpPr>
          <p:cNvPr id="184" name="Shape 182"/>
          <p:cNvSpPr/>
          <p:nvPr/>
        </p:nvSpPr>
        <p:spPr>
          <a:xfrm>
            <a:off x="365760" y="5961888"/>
            <a:ext cx="11475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93192" y="598932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 Campaigns &amp; Guides</a:t>
            </a:r>
            <a:endParaRPr lang="en-US" sz="850" dirty="0"/>
          </a:p>
        </p:txBody>
      </p:sp>
      <p:sp>
        <p:nvSpPr>
          <p:cNvPr id="186" name="Text 184"/>
          <p:cNvSpPr/>
          <p:nvPr/>
        </p:nvSpPr>
        <p:spPr>
          <a:xfrm>
            <a:off x="2990088" y="598932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$1,565</a:t>
            </a:r>
            <a:endParaRPr lang="en-US" sz="850" dirty="0"/>
          </a:p>
        </p:txBody>
      </p:sp>
      <p:sp>
        <p:nvSpPr>
          <p:cNvPr id="187" name="Text 185"/>
          <p:cNvSpPr/>
          <p:nvPr/>
        </p:nvSpPr>
        <p:spPr>
          <a:xfrm>
            <a:off x="4261104" y="598932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$2,259</a:t>
            </a:r>
            <a:endParaRPr lang="en-US" sz="850" dirty="0"/>
          </a:p>
        </p:txBody>
      </p:sp>
      <p:sp>
        <p:nvSpPr>
          <p:cNvPr id="188" name="Text 186"/>
          <p:cNvSpPr/>
          <p:nvPr/>
        </p:nvSpPr>
        <p:spPr>
          <a:xfrm>
            <a:off x="5532120" y="5989320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$694</a:t>
            </a:r>
            <a:endParaRPr lang="en-US" sz="850" dirty="0"/>
          </a:p>
        </p:txBody>
      </p:sp>
      <p:sp>
        <p:nvSpPr>
          <p:cNvPr id="189" name="Text 187"/>
          <p:cNvSpPr/>
          <p:nvPr/>
        </p:nvSpPr>
        <p:spPr>
          <a:xfrm>
            <a:off x="6483096" y="598932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$658</a:t>
            </a:r>
            <a:endParaRPr lang="en-US" sz="850" dirty="0"/>
          </a:p>
        </p:txBody>
      </p:sp>
      <p:sp>
        <p:nvSpPr>
          <p:cNvPr id="190" name="Text 188"/>
          <p:cNvSpPr/>
          <p:nvPr/>
        </p:nvSpPr>
        <p:spPr>
          <a:xfrm>
            <a:off x="7754112" y="598932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+138%</a:t>
            </a:r>
            <a:endParaRPr lang="en-US" sz="850" dirty="0"/>
          </a:p>
        </p:txBody>
      </p:sp>
      <p:sp>
        <p:nvSpPr>
          <p:cNvPr id="191" name="Text 189"/>
          <p:cNvSpPr/>
          <p:nvPr/>
        </p:nvSpPr>
        <p:spPr>
          <a:xfrm>
            <a:off x="8613648" y="598932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$33,470</a:t>
            </a:r>
            <a:endParaRPr lang="en-US" sz="850" dirty="0"/>
          </a:p>
        </p:txBody>
      </p:sp>
      <p:sp>
        <p:nvSpPr>
          <p:cNvPr id="192" name="Text 190"/>
          <p:cNvSpPr/>
          <p:nvPr/>
        </p:nvSpPr>
        <p:spPr>
          <a:xfrm>
            <a:off x="9884664" y="598932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$24,960</a:t>
            </a:r>
            <a:endParaRPr lang="en-US" sz="850" dirty="0"/>
          </a:p>
        </p:txBody>
      </p:sp>
      <p:sp>
        <p:nvSpPr>
          <p:cNvPr id="193" name="Text 191"/>
          <p:cNvSpPr/>
          <p:nvPr/>
        </p:nvSpPr>
        <p:spPr>
          <a:xfrm>
            <a:off x="11155680" y="598932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+34.1%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365760" y="6263640"/>
            <a:ext cx="11475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393192" y="629107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850" dirty="0"/>
          </a:p>
        </p:txBody>
      </p:sp>
      <p:sp>
        <p:nvSpPr>
          <p:cNvPr id="196" name="Text 194"/>
          <p:cNvSpPr/>
          <p:nvPr/>
        </p:nvSpPr>
        <p:spPr>
          <a:xfrm>
            <a:off x="2990088" y="629107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$1,549</a:t>
            </a:r>
            <a:endParaRPr lang="en-US" sz="850" dirty="0"/>
          </a:p>
        </p:txBody>
      </p:sp>
      <p:sp>
        <p:nvSpPr>
          <p:cNvPr id="197" name="Text 195"/>
          <p:cNvSpPr/>
          <p:nvPr/>
        </p:nvSpPr>
        <p:spPr>
          <a:xfrm>
            <a:off x="4261104" y="629107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$746</a:t>
            </a:r>
            <a:endParaRPr lang="en-US" sz="850" dirty="0"/>
          </a:p>
        </p:txBody>
      </p:sp>
      <p:sp>
        <p:nvSpPr>
          <p:cNvPr id="198" name="Text 196"/>
          <p:cNvSpPr/>
          <p:nvPr/>
        </p:nvSpPr>
        <p:spPr>
          <a:xfrm>
            <a:off x="5532120" y="62910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+$803</a:t>
            </a:r>
            <a:endParaRPr lang="en-US" sz="850" dirty="0"/>
          </a:p>
        </p:txBody>
      </p:sp>
      <p:sp>
        <p:nvSpPr>
          <p:cNvPr id="199" name="Text 197"/>
          <p:cNvSpPr/>
          <p:nvPr/>
        </p:nvSpPr>
        <p:spPr>
          <a:xfrm>
            <a:off x="6483096" y="629107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$1,095</a:t>
            </a:r>
            <a:endParaRPr lang="en-US" sz="850" dirty="0"/>
          </a:p>
        </p:txBody>
      </p:sp>
      <p:sp>
        <p:nvSpPr>
          <p:cNvPr id="200" name="Text 198"/>
          <p:cNvSpPr/>
          <p:nvPr/>
        </p:nvSpPr>
        <p:spPr>
          <a:xfrm>
            <a:off x="7754112" y="629107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+41.5%</a:t>
            </a:r>
            <a:endParaRPr lang="en-US" sz="850" dirty="0"/>
          </a:p>
        </p:txBody>
      </p:sp>
      <p:sp>
        <p:nvSpPr>
          <p:cNvPr id="201" name="Text 199"/>
          <p:cNvSpPr/>
          <p:nvPr/>
        </p:nvSpPr>
        <p:spPr>
          <a:xfrm>
            <a:off x="8613648" y="629107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$23,421</a:t>
            </a:r>
            <a:endParaRPr lang="en-US" sz="850" dirty="0"/>
          </a:p>
        </p:txBody>
      </p:sp>
      <p:sp>
        <p:nvSpPr>
          <p:cNvPr id="202" name="Text 200"/>
          <p:cNvSpPr/>
          <p:nvPr/>
        </p:nvSpPr>
        <p:spPr>
          <a:xfrm>
            <a:off x="9884664" y="629107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$29,351</a:t>
            </a:r>
            <a:endParaRPr lang="en-US" sz="850" dirty="0"/>
          </a:p>
        </p:txBody>
      </p:sp>
      <p:sp>
        <p:nvSpPr>
          <p:cNvPr id="203" name="Text 201"/>
          <p:cNvSpPr/>
          <p:nvPr/>
        </p:nvSpPr>
        <p:spPr>
          <a:xfrm>
            <a:off x="11155680" y="629107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-20.2%</a:t>
            </a:r>
            <a:endParaRPr lang="en-US" sz="850" dirty="0"/>
          </a:p>
        </p:txBody>
      </p:sp>
      <p:sp>
        <p:nvSpPr>
          <p:cNvPr id="204" name="Shape 202"/>
          <p:cNvSpPr/>
          <p:nvPr/>
        </p:nvSpPr>
        <p:spPr>
          <a:xfrm>
            <a:off x="365760" y="6565392"/>
            <a:ext cx="11475720" cy="3291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393192" y="661111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</p:txBody>
      </p:sp>
      <p:sp>
        <p:nvSpPr>
          <p:cNvPr id="206" name="Text 204"/>
          <p:cNvSpPr/>
          <p:nvPr/>
        </p:nvSpPr>
        <p:spPr>
          <a:xfrm>
            <a:off x="2990088" y="6611112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$444,953</a:t>
            </a:r>
            <a:endParaRPr lang="en-US" sz="850" dirty="0"/>
          </a:p>
        </p:txBody>
      </p:sp>
      <p:sp>
        <p:nvSpPr>
          <p:cNvPr id="207" name="Text 205"/>
          <p:cNvSpPr/>
          <p:nvPr/>
        </p:nvSpPr>
        <p:spPr>
          <a:xfrm>
            <a:off x="4261104" y="6611112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$285,691</a:t>
            </a:r>
            <a:endParaRPr lang="en-US" sz="850" dirty="0"/>
          </a:p>
        </p:txBody>
      </p:sp>
      <p:sp>
        <p:nvSpPr>
          <p:cNvPr id="208" name="Text 206"/>
          <p:cNvSpPr/>
          <p:nvPr/>
        </p:nvSpPr>
        <p:spPr>
          <a:xfrm>
            <a:off x="5532120" y="661111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+$159,262</a:t>
            </a:r>
            <a:endParaRPr lang="en-US" sz="850" dirty="0"/>
          </a:p>
        </p:txBody>
      </p:sp>
      <p:sp>
        <p:nvSpPr>
          <p:cNvPr id="209" name="Text 207"/>
          <p:cNvSpPr/>
          <p:nvPr/>
        </p:nvSpPr>
        <p:spPr>
          <a:xfrm>
            <a:off x="6483096" y="6611112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$241,857</a:t>
            </a:r>
            <a:endParaRPr lang="en-US" sz="850" dirty="0"/>
          </a:p>
        </p:txBody>
      </p:sp>
      <p:sp>
        <p:nvSpPr>
          <p:cNvPr id="210" name="Text 208"/>
          <p:cNvSpPr/>
          <p:nvPr/>
        </p:nvSpPr>
        <p:spPr>
          <a:xfrm>
            <a:off x="7754112" y="661111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+84%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8613648" y="6611112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$7,374,965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9884664" y="6611112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$5,002,623</a:t>
            </a:r>
            <a:endParaRPr lang="en-US" sz="850" dirty="0"/>
          </a:p>
        </p:txBody>
      </p:sp>
      <p:sp>
        <p:nvSpPr>
          <p:cNvPr id="213" name="Text 211"/>
          <p:cNvSpPr/>
          <p:nvPr/>
        </p:nvSpPr>
        <p:spPr>
          <a:xfrm>
            <a:off x="11155680" y="661111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+47.4%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Distribution by Category — This Week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241280" y="9144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91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94944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3794760" cy="1389888"/>
          </a:xfrm>
          <a:prstGeom prst="roundRect">
            <a:avLst>
              <a:gd name="adj" fmla="val 4605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Card Games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42616" y="822960"/>
            <a:ext cx="13661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$210,246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405765" cy="566928"/>
          </a:xfrm>
          <a:prstGeom prst="roundRect">
            <a:avLst>
              <a:gd name="adj" fmla="val 676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411480" y="1143000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$54.0k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908685" y="1477237"/>
            <a:ext cx="405765" cy="397283"/>
          </a:xfrm>
          <a:prstGeom prst="roundRect">
            <a:avLst>
              <a:gd name="adj" fmla="val 6905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0397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862965" y="1312645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$37.9k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1360170" y="1555792"/>
            <a:ext cx="405765" cy="318728"/>
          </a:xfrm>
          <a:prstGeom prst="roundRect">
            <a:avLst>
              <a:gd name="adj" fmla="val 860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1882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314450" y="1391200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$30.4k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1811655" y="1579647"/>
            <a:ext cx="405765" cy="294873"/>
          </a:xfrm>
          <a:prstGeom prst="roundRect">
            <a:avLst>
              <a:gd name="adj" fmla="val 9303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93367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765935" y="1415055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$28.1k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263140" y="1620708"/>
            <a:ext cx="405765" cy="253812"/>
          </a:xfrm>
          <a:prstGeom prst="roundRect">
            <a:avLst>
              <a:gd name="adj" fmla="val 10808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4852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217420" y="1456116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$24.2k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2714625" y="1736347"/>
            <a:ext cx="405765" cy="138173"/>
          </a:xfrm>
          <a:prstGeom prst="roundRect">
            <a:avLst>
              <a:gd name="adj" fmla="val 19853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6337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166110" y="1741288"/>
            <a:ext cx="405765" cy="133232"/>
          </a:xfrm>
          <a:prstGeom prst="roundRect">
            <a:avLst>
              <a:gd name="adj" fmla="val 20590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47822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617595" y="1771910"/>
            <a:ext cx="405765" cy="102610"/>
          </a:xfrm>
          <a:prstGeom prst="roundRect">
            <a:avLst>
              <a:gd name="adj" fmla="val 26734"/>
            </a:avLst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9307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38912" y="1874520"/>
            <a:ext cx="363016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24528" y="777240"/>
            <a:ext cx="3794760" cy="1389888"/>
          </a:xfrm>
          <a:prstGeom prst="roundRect">
            <a:avLst>
              <a:gd name="adj" fmla="val 4605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15968" y="822960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Box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01384" y="822960"/>
            <a:ext cx="13661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$94,599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15968" y="1307592"/>
            <a:ext cx="405765" cy="566928"/>
          </a:xfrm>
          <a:prstGeom prst="roundRect">
            <a:avLst>
              <a:gd name="adj" fmla="val 676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270248" y="1143000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$22.7k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4767453" y="1377897"/>
            <a:ext cx="405765" cy="496623"/>
          </a:xfrm>
          <a:prstGeom prst="roundRect">
            <a:avLst>
              <a:gd name="adj" fmla="val 6761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49165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4721733" y="1213305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$19.9k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5218938" y="1513122"/>
            <a:ext cx="405765" cy="361398"/>
          </a:xfrm>
          <a:prstGeom prst="roundRect">
            <a:avLst>
              <a:gd name="adj" fmla="val 759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00650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5173218" y="1348530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$14.5k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5670423" y="1622893"/>
            <a:ext cx="405765" cy="251627"/>
          </a:xfrm>
          <a:prstGeom prst="roundRect">
            <a:avLst>
              <a:gd name="adj" fmla="val 10902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52135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5624703" y="1458301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$10.1k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6121908" y="1640868"/>
            <a:ext cx="405765" cy="233652"/>
          </a:xfrm>
          <a:prstGeom prst="roundRect">
            <a:avLst>
              <a:gd name="adj" fmla="val 11741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03620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6076188" y="1476276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$9.4k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6573393" y="1700827"/>
            <a:ext cx="405765" cy="173693"/>
          </a:xfrm>
          <a:prstGeom prst="roundRect">
            <a:avLst>
              <a:gd name="adj" fmla="val 15793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55105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7024878" y="1729771"/>
            <a:ext cx="405765" cy="144749"/>
          </a:xfrm>
          <a:prstGeom prst="roundRect">
            <a:avLst>
              <a:gd name="adj" fmla="val 18951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06590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7476363" y="1744755"/>
            <a:ext cx="405765" cy="129765"/>
          </a:xfrm>
          <a:prstGeom prst="roundRect">
            <a:avLst>
              <a:gd name="adj" fmla="val 21140"/>
            </a:avLst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58075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4297680" y="1874520"/>
            <a:ext cx="363016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83296" y="777240"/>
            <a:ext cx="3794760" cy="1389888"/>
          </a:xfrm>
          <a:prstGeom prst="roundRect">
            <a:avLst>
              <a:gd name="adj" fmla="val 4605"/>
            </a:avLst>
          </a:prstGeom>
          <a:solidFill>
            <a:srgbClr val="FFFDE7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74736" y="822960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Pop! Vinyl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360152" y="822960"/>
            <a:ext cx="13661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$51,133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174736" y="1307592"/>
            <a:ext cx="405765" cy="566928"/>
          </a:xfrm>
          <a:prstGeom prst="roundRect">
            <a:avLst>
              <a:gd name="adj" fmla="val 676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56448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8129016" y="1143000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$10.3k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8626221" y="1337717"/>
            <a:ext cx="405765" cy="536803"/>
          </a:xfrm>
          <a:prstGeom prst="roundRect">
            <a:avLst>
              <a:gd name="adj" fmla="val 6761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07933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8580501" y="1173125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$9.8k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9077706" y="1450135"/>
            <a:ext cx="405765" cy="424385"/>
          </a:xfrm>
          <a:prstGeom prst="roundRect">
            <a:avLst>
              <a:gd name="adj" fmla="val 676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59418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9031986" y="1285543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$7.7k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9529191" y="1478610"/>
            <a:ext cx="405765" cy="395910"/>
          </a:xfrm>
          <a:prstGeom prst="roundRect">
            <a:avLst>
              <a:gd name="adj" fmla="val 6929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510903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9483471" y="1314018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$7.2k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9980676" y="1569205"/>
            <a:ext cx="405765" cy="305315"/>
          </a:xfrm>
          <a:prstGeom prst="roundRect">
            <a:avLst>
              <a:gd name="adj" fmla="val 8985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962388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9934956" y="1404613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$5.6k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0432161" y="1600209"/>
            <a:ext cx="405765" cy="274311"/>
          </a:xfrm>
          <a:prstGeom prst="roundRect">
            <a:avLst>
              <a:gd name="adj" fmla="val 10000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413873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10883646" y="1661778"/>
            <a:ext cx="405765" cy="212742"/>
          </a:xfrm>
          <a:prstGeom prst="roundRect">
            <a:avLst>
              <a:gd name="adj" fmla="val 12894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865358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11335131" y="1780078"/>
            <a:ext cx="405765" cy="94442"/>
          </a:xfrm>
          <a:prstGeom prst="roundRect">
            <a:avLst>
              <a:gd name="adj" fmla="val 29046"/>
            </a:avLst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1316843" y="1892808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8156448" y="1874520"/>
            <a:ext cx="363016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5760" y="2258568"/>
            <a:ext cx="3794760" cy="1389888"/>
          </a:xfrm>
          <a:prstGeom prst="roundRect">
            <a:avLst>
              <a:gd name="adj" fmla="val 4605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7200" y="2304288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2642616" y="2304288"/>
            <a:ext cx="13661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$30,142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57200" y="2788920"/>
            <a:ext cx="405765" cy="566928"/>
          </a:xfrm>
          <a:prstGeom prst="roundRect">
            <a:avLst>
              <a:gd name="adj" fmla="val 676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411480" y="2624328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$8.1k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908685" y="3012578"/>
            <a:ext cx="405765" cy="343270"/>
          </a:xfrm>
          <a:prstGeom prst="roundRect">
            <a:avLst>
              <a:gd name="adj" fmla="val 7991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90397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862965" y="2847986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$4.9k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1360170" y="3049668"/>
            <a:ext cx="405765" cy="306180"/>
          </a:xfrm>
          <a:prstGeom prst="roundRect">
            <a:avLst>
              <a:gd name="adj" fmla="val 895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341882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1314450" y="2885076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$4.4k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1811655" y="3099027"/>
            <a:ext cx="405765" cy="256821"/>
          </a:xfrm>
          <a:prstGeom prst="roundRect">
            <a:avLst>
              <a:gd name="adj" fmla="val 10681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793367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1765935" y="2934435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$3.7k</a:t>
            </a:r>
            <a:endParaRPr lang="en-US" sz="600" dirty="0"/>
          </a:p>
        </p:txBody>
      </p:sp>
      <p:sp>
        <p:nvSpPr>
          <p:cNvPr id="96" name="Shape 94"/>
          <p:cNvSpPr/>
          <p:nvPr/>
        </p:nvSpPr>
        <p:spPr>
          <a:xfrm>
            <a:off x="2263140" y="3165283"/>
            <a:ext cx="405765" cy="190565"/>
          </a:xfrm>
          <a:prstGeom prst="roundRect">
            <a:avLst>
              <a:gd name="adj" fmla="val 14395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244852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2217420" y="3000691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$2.7k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2714625" y="3191575"/>
            <a:ext cx="405765" cy="164273"/>
          </a:xfrm>
          <a:prstGeom prst="roundRect">
            <a:avLst>
              <a:gd name="adj" fmla="val 16699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696337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3166110" y="3196763"/>
            <a:ext cx="405765" cy="159085"/>
          </a:xfrm>
          <a:prstGeom prst="roundRect">
            <a:avLst>
              <a:gd name="adj" fmla="val 17244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147822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3617595" y="3229716"/>
            <a:ext cx="405765" cy="126132"/>
          </a:xfrm>
          <a:prstGeom prst="roundRect">
            <a:avLst>
              <a:gd name="adj" fmla="val 21749"/>
            </a:avLst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599307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438912" y="3355848"/>
            <a:ext cx="363016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24528" y="2258568"/>
            <a:ext cx="3794760" cy="1389888"/>
          </a:xfrm>
          <a:prstGeom prst="roundRect">
            <a:avLst>
              <a:gd name="adj" fmla="val 4605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315968" y="2304288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Kits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6501384" y="2304288"/>
            <a:ext cx="13661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$13,386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4315968" y="2788920"/>
            <a:ext cx="405765" cy="566928"/>
          </a:xfrm>
          <a:prstGeom prst="roundRect">
            <a:avLst>
              <a:gd name="adj" fmla="val 676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297680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4270248" y="2624328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$3.5k</a:t>
            </a:r>
            <a:endParaRPr lang="en-US" sz="600" dirty="0"/>
          </a:p>
        </p:txBody>
      </p:sp>
      <p:sp>
        <p:nvSpPr>
          <p:cNvPr id="112" name="Shape 110"/>
          <p:cNvSpPr/>
          <p:nvPr/>
        </p:nvSpPr>
        <p:spPr>
          <a:xfrm>
            <a:off x="4767453" y="3004604"/>
            <a:ext cx="405765" cy="351244"/>
          </a:xfrm>
          <a:prstGeom prst="roundRect">
            <a:avLst>
              <a:gd name="adj" fmla="val 781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749165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4721733" y="2840012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$2.1k</a:t>
            </a:r>
            <a:endParaRPr lang="en-US" sz="600" dirty="0"/>
          </a:p>
        </p:txBody>
      </p:sp>
      <p:sp>
        <p:nvSpPr>
          <p:cNvPr id="115" name="Shape 113"/>
          <p:cNvSpPr/>
          <p:nvPr/>
        </p:nvSpPr>
        <p:spPr>
          <a:xfrm>
            <a:off x="5218938" y="3022919"/>
            <a:ext cx="405765" cy="332929"/>
          </a:xfrm>
          <a:prstGeom prst="roundRect">
            <a:avLst>
              <a:gd name="adj" fmla="val 824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200650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5173218" y="2858327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$2.0k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5670423" y="3103208"/>
            <a:ext cx="405765" cy="252640"/>
          </a:xfrm>
          <a:prstGeom prst="roundRect">
            <a:avLst>
              <a:gd name="adj" fmla="val 10858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652135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</a:t>
            </a:r>
            <a:endParaRPr lang="en-US" sz="650" dirty="0"/>
          </a:p>
        </p:txBody>
      </p:sp>
      <p:sp>
        <p:nvSpPr>
          <p:cNvPr id="120" name="Text 118"/>
          <p:cNvSpPr/>
          <p:nvPr/>
        </p:nvSpPr>
        <p:spPr>
          <a:xfrm>
            <a:off x="5624703" y="2938616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$1.5k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6121908" y="3109585"/>
            <a:ext cx="405765" cy="246263"/>
          </a:xfrm>
          <a:prstGeom prst="roundRect">
            <a:avLst>
              <a:gd name="adj" fmla="val 11139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103620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6076188" y="2944993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$1.5k</a:t>
            </a:r>
            <a:endParaRPr lang="en-US" sz="600" dirty="0"/>
          </a:p>
        </p:txBody>
      </p:sp>
      <p:sp>
        <p:nvSpPr>
          <p:cNvPr id="124" name="Shape 122"/>
          <p:cNvSpPr/>
          <p:nvPr/>
        </p:nvSpPr>
        <p:spPr>
          <a:xfrm>
            <a:off x="6573393" y="3185459"/>
            <a:ext cx="405765" cy="170389"/>
          </a:xfrm>
          <a:prstGeom prst="roundRect">
            <a:avLst>
              <a:gd name="adj" fmla="val 16100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555105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7024878" y="3208352"/>
            <a:ext cx="405765" cy="147496"/>
          </a:xfrm>
          <a:prstGeom prst="roundRect">
            <a:avLst>
              <a:gd name="adj" fmla="val 18598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006590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650" dirty="0"/>
          </a:p>
        </p:txBody>
      </p:sp>
      <p:sp>
        <p:nvSpPr>
          <p:cNvPr id="128" name="Shape 126"/>
          <p:cNvSpPr/>
          <p:nvPr/>
        </p:nvSpPr>
        <p:spPr>
          <a:xfrm>
            <a:off x="7476363" y="3234842"/>
            <a:ext cx="405765" cy="121006"/>
          </a:xfrm>
          <a:prstGeom prst="roundRect">
            <a:avLst>
              <a:gd name="adj" fmla="val 22670"/>
            </a:avLst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458075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4297680" y="3355848"/>
            <a:ext cx="363016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083296" y="2258568"/>
            <a:ext cx="3794760" cy="1389888"/>
          </a:xfrm>
          <a:prstGeom prst="roundRect">
            <a:avLst>
              <a:gd name="adj" fmla="val 4605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174736" y="2304288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10360152" y="2304288"/>
            <a:ext cx="13661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$7,308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8174736" y="2788920"/>
            <a:ext cx="405765" cy="566928"/>
          </a:xfrm>
          <a:prstGeom prst="roundRect">
            <a:avLst>
              <a:gd name="adj" fmla="val 676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156448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endParaRPr lang="en-US" sz="650" dirty="0"/>
          </a:p>
        </p:txBody>
      </p:sp>
      <p:sp>
        <p:nvSpPr>
          <p:cNvPr id="136" name="Text 134"/>
          <p:cNvSpPr/>
          <p:nvPr/>
        </p:nvSpPr>
        <p:spPr>
          <a:xfrm>
            <a:off x="8129016" y="2624328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$2.3k</a:t>
            </a:r>
            <a:endParaRPr lang="en-US" sz="600" dirty="0"/>
          </a:p>
        </p:txBody>
      </p:sp>
      <p:sp>
        <p:nvSpPr>
          <p:cNvPr id="137" name="Shape 135"/>
          <p:cNvSpPr/>
          <p:nvPr/>
        </p:nvSpPr>
        <p:spPr>
          <a:xfrm>
            <a:off x="8626221" y="3068057"/>
            <a:ext cx="405765" cy="287791"/>
          </a:xfrm>
          <a:prstGeom prst="roundRect">
            <a:avLst>
              <a:gd name="adj" fmla="val 9532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607933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8580501" y="2903465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$1.2k</a:t>
            </a:r>
            <a:endParaRPr lang="en-US" sz="600" dirty="0"/>
          </a:p>
        </p:txBody>
      </p:sp>
      <p:sp>
        <p:nvSpPr>
          <p:cNvPr id="140" name="Shape 138"/>
          <p:cNvSpPr/>
          <p:nvPr/>
        </p:nvSpPr>
        <p:spPr>
          <a:xfrm>
            <a:off x="9077706" y="3077452"/>
            <a:ext cx="405765" cy="278396"/>
          </a:xfrm>
          <a:prstGeom prst="roundRect">
            <a:avLst>
              <a:gd name="adj" fmla="val 9854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9059418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9031986" y="2912860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$1.1k</a:t>
            </a:r>
            <a:endParaRPr lang="en-US" sz="600" dirty="0"/>
          </a:p>
        </p:txBody>
      </p:sp>
      <p:sp>
        <p:nvSpPr>
          <p:cNvPr id="143" name="Shape 141"/>
          <p:cNvSpPr/>
          <p:nvPr/>
        </p:nvSpPr>
        <p:spPr>
          <a:xfrm>
            <a:off x="9529191" y="3114292"/>
            <a:ext cx="405765" cy="241556"/>
          </a:xfrm>
          <a:prstGeom prst="roundRect">
            <a:avLst>
              <a:gd name="adj" fmla="val 11356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9510903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9483471" y="2949700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$1.0k</a:t>
            </a:r>
            <a:endParaRPr lang="en-US" sz="600" dirty="0"/>
          </a:p>
        </p:txBody>
      </p:sp>
      <p:sp>
        <p:nvSpPr>
          <p:cNvPr id="146" name="Shape 144"/>
          <p:cNvSpPr/>
          <p:nvPr/>
        </p:nvSpPr>
        <p:spPr>
          <a:xfrm>
            <a:off x="9980676" y="3197613"/>
            <a:ext cx="405765" cy="158235"/>
          </a:xfrm>
          <a:prstGeom prst="roundRect">
            <a:avLst>
              <a:gd name="adj" fmla="val 17336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962388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</a:t>
            </a:r>
            <a:endParaRPr lang="en-US" sz="650" dirty="0"/>
          </a:p>
        </p:txBody>
      </p:sp>
      <p:sp>
        <p:nvSpPr>
          <p:cNvPr id="148" name="Text 146"/>
          <p:cNvSpPr/>
          <p:nvPr/>
        </p:nvSpPr>
        <p:spPr>
          <a:xfrm>
            <a:off x="9934956" y="3033021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$0.6k</a:t>
            </a:r>
            <a:endParaRPr lang="en-US" sz="600" dirty="0"/>
          </a:p>
        </p:txBody>
      </p:sp>
      <p:sp>
        <p:nvSpPr>
          <p:cNvPr id="149" name="Shape 147"/>
          <p:cNvSpPr/>
          <p:nvPr/>
        </p:nvSpPr>
        <p:spPr>
          <a:xfrm>
            <a:off x="10432161" y="3197860"/>
            <a:ext cx="405765" cy="157988"/>
          </a:xfrm>
          <a:prstGeom prst="roundRect">
            <a:avLst>
              <a:gd name="adj" fmla="val 17363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0413873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10883646" y="3297251"/>
            <a:ext cx="405765" cy="58597"/>
          </a:xfrm>
          <a:prstGeom prst="roundRect">
            <a:avLst>
              <a:gd name="adj" fmla="val 46815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0865358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11335131" y="3298488"/>
            <a:ext cx="405765" cy="57360"/>
          </a:xfrm>
          <a:prstGeom prst="roundRect">
            <a:avLst>
              <a:gd name="adj" fmla="val 47824"/>
            </a:avLst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1316843" y="3374136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8156448" y="3355848"/>
            <a:ext cx="363016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65760" y="3739896"/>
            <a:ext cx="3794760" cy="1389888"/>
          </a:xfrm>
          <a:prstGeom prst="roundRect">
            <a:avLst>
              <a:gd name="adj" fmla="val 4605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57200" y="3785616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Vinyl Figures</a:t>
            </a:r>
            <a:endParaRPr lang="en-US" sz="900" dirty="0"/>
          </a:p>
        </p:txBody>
      </p:sp>
      <p:sp>
        <p:nvSpPr>
          <p:cNvPr id="158" name="Text 156"/>
          <p:cNvSpPr/>
          <p:nvPr/>
        </p:nvSpPr>
        <p:spPr>
          <a:xfrm>
            <a:off x="2642616" y="3785616"/>
            <a:ext cx="13661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$6,820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457200" y="4270248"/>
            <a:ext cx="405765" cy="566928"/>
          </a:xfrm>
          <a:prstGeom prst="roundRect">
            <a:avLst>
              <a:gd name="adj" fmla="val 676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38912" y="4855464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161" name="Text 159"/>
          <p:cNvSpPr/>
          <p:nvPr/>
        </p:nvSpPr>
        <p:spPr>
          <a:xfrm>
            <a:off x="411480" y="4105656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$1.9k</a:t>
            </a:r>
            <a:endParaRPr lang="en-US" sz="600" dirty="0"/>
          </a:p>
        </p:txBody>
      </p:sp>
      <p:sp>
        <p:nvSpPr>
          <p:cNvPr id="162" name="Shape 160"/>
          <p:cNvSpPr/>
          <p:nvPr/>
        </p:nvSpPr>
        <p:spPr>
          <a:xfrm>
            <a:off x="908685" y="4486235"/>
            <a:ext cx="405765" cy="350941"/>
          </a:xfrm>
          <a:prstGeom prst="roundRect">
            <a:avLst>
              <a:gd name="adj" fmla="val 7817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890397" y="4855464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</a:t>
            </a:r>
            <a:endParaRPr lang="en-US" sz="650" dirty="0"/>
          </a:p>
        </p:txBody>
      </p:sp>
      <p:sp>
        <p:nvSpPr>
          <p:cNvPr id="164" name="Text 162"/>
          <p:cNvSpPr/>
          <p:nvPr/>
        </p:nvSpPr>
        <p:spPr>
          <a:xfrm>
            <a:off x="862965" y="4321643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$1.2k</a:t>
            </a:r>
            <a:endParaRPr lang="en-US" sz="600" dirty="0"/>
          </a:p>
        </p:txBody>
      </p:sp>
      <p:sp>
        <p:nvSpPr>
          <p:cNvPr id="165" name="Shape 163"/>
          <p:cNvSpPr/>
          <p:nvPr/>
        </p:nvSpPr>
        <p:spPr>
          <a:xfrm>
            <a:off x="1360170" y="4594680"/>
            <a:ext cx="405765" cy="242496"/>
          </a:xfrm>
          <a:prstGeom prst="roundRect">
            <a:avLst>
              <a:gd name="adj" fmla="val 1131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341882" y="4855464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</a:t>
            </a:r>
            <a:endParaRPr lang="en-US" sz="650" dirty="0"/>
          </a:p>
        </p:txBody>
      </p:sp>
      <p:sp>
        <p:nvSpPr>
          <p:cNvPr id="167" name="Text 165"/>
          <p:cNvSpPr/>
          <p:nvPr/>
        </p:nvSpPr>
        <p:spPr>
          <a:xfrm>
            <a:off x="1314450" y="4430088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$0.8k</a:t>
            </a:r>
            <a:endParaRPr lang="en-US" sz="600" dirty="0"/>
          </a:p>
        </p:txBody>
      </p:sp>
      <p:sp>
        <p:nvSpPr>
          <p:cNvPr id="168" name="Shape 166"/>
          <p:cNvSpPr/>
          <p:nvPr/>
        </p:nvSpPr>
        <p:spPr>
          <a:xfrm>
            <a:off x="1811655" y="4625708"/>
            <a:ext cx="405765" cy="211468"/>
          </a:xfrm>
          <a:prstGeom prst="roundRect">
            <a:avLst>
              <a:gd name="adj" fmla="val 12972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1793367" y="4855464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endParaRPr lang="en-US" sz="650" dirty="0"/>
          </a:p>
        </p:txBody>
      </p:sp>
      <p:sp>
        <p:nvSpPr>
          <p:cNvPr id="170" name="Text 168"/>
          <p:cNvSpPr/>
          <p:nvPr/>
        </p:nvSpPr>
        <p:spPr>
          <a:xfrm>
            <a:off x="1765935" y="4461116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$0.7k</a:t>
            </a:r>
            <a:endParaRPr lang="en-US" sz="600" dirty="0"/>
          </a:p>
        </p:txBody>
      </p:sp>
      <p:sp>
        <p:nvSpPr>
          <p:cNvPr id="171" name="Shape 169"/>
          <p:cNvSpPr/>
          <p:nvPr/>
        </p:nvSpPr>
        <p:spPr>
          <a:xfrm>
            <a:off x="2263140" y="4641071"/>
            <a:ext cx="405765" cy="196105"/>
          </a:xfrm>
          <a:prstGeom prst="roundRect">
            <a:avLst>
              <a:gd name="adj" fmla="val 13988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244852" y="4855464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</a:t>
            </a:r>
            <a:endParaRPr lang="en-US" sz="650" dirty="0"/>
          </a:p>
        </p:txBody>
      </p:sp>
      <p:sp>
        <p:nvSpPr>
          <p:cNvPr id="173" name="Text 171"/>
          <p:cNvSpPr/>
          <p:nvPr/>
        </p:nvSpPr>
        <p:spPr>
          <a:xfrm>
            <a:off x="2217420" y="4476479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$0.7k</a:t>
            </a:r>
            <a:endParaRPr lang="en-US" sz="600" dirty="0"/>
          </a:p>
        </p:txBody>
      </p:sp>
      <p:sp>
        <p:nvSpPr>
          <p:cNvPr id="174" name="Shape 172"/>
          <p:cNvSpPr/>
          <p:nvPr/>
        </p:nvSpPr>
        <p:spPr>
          <a:xfrm>
            <a:off x="2714625" y="4654325"/>
            <a:ext cx="405765" cy="182851"/>
          </a:xfrm>
          <a:prstGeom prst="roundRect">
            <a:avLst>
              <a:gd name="adj" fmla="val 15002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696337" y="4855464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650" dirty="0"/>
          </a:p>
        </p:txBody>
      </p:sp>
      <p:sp>
        <p:nvSpPr>
          <p:cNvPr id="176" name="Shape 174"/>
          <p:cNvSpPr/>
          <p:nvPr/>
        </p:nvSpPr>
        <p:spPr>
          <a:xfrm>
            <a:off x="3166110" y="4660049"/>
            <a:ext cx="405765" cy="177127"/>
          </a:xfrm>
          <a:prstGeom prst="roundRect">
            <a:avLst>
              <a:gd name="adj" fmla="val 15487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3147822" y="4855464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</a:t>
            </a:r>
            <a:endParaRPr lang="en-US" sz="650" dirty="0"/>
          </a:p>
        </p:txBody>
      </p:sp>
      <p:sp>
        <p:nvSpPr>
          <p:cNvPr id="178" name="Shape 176"/>
          <p:cNvSpPr/>
          <p:nvPr/>
        </p:nvSpPr>
        <p:spPr>
          <a:xfrm>
            <a:off x="3617595" y="4710355"/>
            <a:ext cx="405765" cy="126821"/>
          </a:xfrm>
          <a:prstGeom prst="roundRect">
            <a:avLst>
              <a:gd name="adj" fmla="val 21630"/>
            </a:avLst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3599307" y="4855464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180" name="Shape 178"/>
          <p:cNvSpPr/>
          <p:nvPr/>
        </p:nvSpPr>
        <p:spPr>
          <a:xfrm>
            <a:off x="438912" y="4837176"/>
            <a:ext cx="363016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224528" y="3739896"/>
            <a:ext cx="3794760" cy="1389888"/>
          </a:xfrm>
          <a:prstGeom prst="roundRect">
            <a:avLst>
              <a:gd name="adj" fmla="val 4605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4315968" y="3785616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Keychains</a:t>
            </a:r>
            <a:endParaRPr lang="en-US" sz="900" dirty="0"/>
          </a:p>
        </p:txBody>
      </p:sp>
      <p:sp>
        <p:nvSpPr>
          <p:cNvPr id="183" name="Text 181"/>
          <p:cNvSpPr/>
          <p:nvPr/>
        </p:nvSpPr>
        <p:spPr>
          <a:xfrm>
            <a:off x="6501384" y="3785616"/>
            <a:ext cx="13661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$5,833</a:t>
            </a:r>
            <a:endParaRPr lang="en-US" sz="1000" dirty="0"/>
          </a:p>
        </p:txBody>
      </p:sp>
      <p:sp>
        <p:nvSpPr>
          <p:cNvPr id="184" name="Shape 182"/>
          <p:cNvSpPr/>
          <p:nvPr/>
        </p:nvSpPr>
        <p:spPr>
          <a:xfrm>
            <a:off x="4315968" y="4270248"/>
            <a:ext cx="405765" cy="566928"/>
          </a:xfrm>
          <a:prstGeom prst="roundRect">
            <a:avLst>
              <a:gd name="adj" fmla="val 676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297680" y="4855464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</a:t>
            </a:r>
            <a:endParaRPr lang="en-US" sz="650" dirty="0"/>
          </a:p>
        </p:txBody>
      </p:sp>
      <p:sp>
        <p:nvSpPr>
          <p:cNvPr id="186" name="Text 184"/>
          <p:cNvSpPr/>
          <p:nvPr/>
        </p:nvSpPr>
        <p:spPr>
          <a:xfrm>
            <a:off x="4270248" y="4105656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$1.3k</a:t>
            </a:r>
            <a:endParaRPr lang="en-US" sz="600" dirty="0"/>
          </a:p>
        </p:txBody>
      </p:sp>
      <p:sp>
        <p:nvSpPr>
          <p:cNvPr id="187" name="Shape 185"/>
          <p:cNvSpPr/>
          <p:nvPr/>
        </p:nvSpPr>
        <p:spPr>
          <a:xfrm>
            <a:off x="4767453" y="4389534"/>
            <a:ext cx="405765" cy="447642"/>
          </a:xfrm>
          <a:prstGeom prst="roundRect">
            <a:avLst>
              <a:gd name="adj" fmla="val 6761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4749165" y="4855464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189" name="Text 187"/>
          <p:cNvSpPr/>
          <p:nvPr/>
        </p:nvSpPr>
        <p:spPr>
          <a:xfrm>
            <a:off x="4721733" y="4224942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$1.0k</a:t>
            </a:r>
            <a:endParaRPr lang="en-US" sz="600" dirty="0"/>
          </a:p>
        </p:txBody>
      </p:sp>
      <p:sp>
        <p:nvSpPr>
          <p:cNvPr id="190" name="Shape 188"/>
          <p:cNvSpPr/>
          <p:nvPr/>
        </p:nvSpPr>
        <p:spPr>
          <a:xfrm>
            <a:off x="5218938" y="4421172"/>
            <a:ext cx="405765" cy="416004"/>
          </a:xfrm>
          <a:prstGeom prst="roundRect">
            <a:avLst>
              <a:gd name="adj" fmla="val 676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5200650" y="4855464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</a:t>
            </a:r>
            <a:endParaRPr lang="en-US" sz="650" dirty="0"/>
          </a:p>
        </p:txBody>
      </p:sp>
      <p:sp>
        <p:nvSpPr>
          <p:cNvPr id="192" name="Text 190"/>
          <p:cNvSpPr/>
          <p:nvPr/>
        </p:nvSpPr>
        <p:spPr>
          <a:xfrm>
            <a:off x="5173218" y="4256580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$1.0k</a:t>
            </a:r>
            <a:endParaRPr lang="en-US" sz="600" dirty="0"/>
          </a:p>
        </p:txBody>
      </p:sp>
      <p:sp>
        <p:nvSpPr>
          <p:cNvPr id="193" name="Shape 191"/>
          <p:cNvSpPr/>
          <p:nvPr/>
        </p:nvSpPr>
        <p:spPr>
          <a:xfrm>
            <a:off x="5670423" y="4433571"/>
            <a:ext cx="405765" cy="403605"/>
          </a:xfrm>
          <a:prstGeom prst="roundRect">
            <a:avLst>
              <a:gd name="adj" fmla="val 6797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5652135" y="4855464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endParaRPr lang="en-US" sz="650" dirty="0"/>
          </a:p>
        </p:txBody>
      </p:sp>
      <p:sp>
        <p:nvSpPr>
          <p:cNvPr id="195" name="Text 193"/>
          <p:cNvSpPr/>
          <p:nvPr/>
        </p:nvSpPr>
        <p:spPr>
          <a:xfrm>
            <a:off x="5624703" y="4268979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$0.9k</a:t>
            </a:r>
            <a:endParaRPr lang="en-US" sz="600" dirty="0"/>
          </a:p>
        </p:txBody>
      </p:sp>
      <p:sp>
        <p:nvSpPr>
          <p:cNvPr id="196" name="Shape 194"/>
          <p:cNvSpPr/>
          <p:nvPr/>
        </p:nvSpPr>
        <p:spPr>
          <a:xfrm>
            <a:off x="6121908" y="4619554"/>
            <a:ext cx="405765" cy="217622"/>
          </a:xfrm>
          <a:prstGeom prst="roundRect">
            <a:avLst>
              <a:gd name="adj" fmla="val 12605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103620" y="4855464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6076188" y="4454962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$0.5k</a:t>
            </a:r>
            <a:endParaRPr lang="en-US" sz="600" dirty="0"/>
          </a:p>
        </p:txBody>
      </p:sp>
      <p:sp>
        <p:nvSpPr>
          <p:cNvPr id="199" name="Shape 197"/>
          <p:cNvSpPr/>
          <p:nvPr/>
        </p:nvSpPr>
        <p:spPr>
          <a:xfrm>
            <a:off x="6573393" y="4633236"/>
            <a:ext cx="405765" cy="203940"/>
          </a:xfrm>
          <a:prstGeom prst="roundRect">
            <a:avLst>
              <a:gd name="adj" fmla="val 13451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6555105" y="4855464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</a:t>
            </a:r>
            <a:endParaRPr lang="en-US" sz="650" dirty="0"/>
          </a:p>
        </p:txBody>
      </p:sp>
      <p:sp>
        <p:nvSpPr>
          <p:cNvPr id="201" name="Shape 199"/>
          <p:cNvSpPr/>
          <p:nvPr/>
        </p:nvSpPr>
        <p:spPr>
          <a:xfrm>
            <a:off x="7024878" y="4646490"/>
            <a:ext cx="405765" cy="190686"/>
          </a:xfrm>
          <a:prstGeom prst="roundRect">
            <a:avLst>
              <a:gd name="adj" fmla="val 14386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7006590" y="4855464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203" name="Shape 201"/>
          <p:cNvSpPr/>
          <p:nvPr/>
        </p:nvSpPr>
        <p:spPr>
          <a:xfrm>
            <a:off x="7476363" y="4789718"/>
            <a:ext cx="405765" cy="47458"/>
          </a:xfrm>
          <a:prstGeom prst="roundRect">
            <a:avLst>
              <a:gd name="adj" fmla="val 57803"/>
            </a:avLst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7458075" y="4855464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650" dirty="0"/>
          </a:p>
        </p:txBody>
      </p:sp>
      <p:sp>
        <p:nvSpPr>
          <p:cNvPr id="205" name="Shape 203"/>
          <p:cNvSpPr/>
          <p:nvPr/>
        </p:nvSpPr>
        <p:spPr>
          <a:xfrm>
            <a:off x="4297680" y="4837176"/>
            <a:ext cx="363016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3739896"/>
            <a:ext cx="3794760" cy="1389888"/>
          </a:xfrm>
          <a:prstGeom prst="roundRect">
            <a:avLst>
              <a:gd name="adj" fmla="val 4605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8174736" y="3785616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 &amp; Prints</a:t>
            </a:r>
            <a:endParaRPr lang="en-US" sz="900" dirty="0"/>
          </a:p>
        </p:txBody>
      </p:sp>
      <p:sp>
        <p:nvSpPr>
          <p:cNvPr id="208" name="Text 206"/>
          <p:cNvSpPr/>
          <p:nvPr/>
        </p:nvSpPr>
        <p:spPr>
          <a:xfrm>
            <a:off x="10360152" y="3785616"/>
            <a:ext cx="13661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$2,903</a:t>
            </a:r>
            <a:endParaRPr lang="en-US" sz="1000" dirty="0"/>
          </a:p>
        </p:txBody>
      </p:sp>
      <p:sp>
        <p:nvSpPr>
          <p:cNvPr id="209" name="Shape 207"/>
          <p:cNvSpPr/>
          <p:nvPr/>
        </p:nvSpPr>
        <p:spPr>
          <a:xfrm>
            <a:off x="8174736" y="4270248"/>
            <a:ext cx="457200" cy="56692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8156448" y="4855464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</a:t>
            </a:r>
            <a:endParaRPr lang="en-US" sz="650" dirty="0"/>
          </a:p>
        </p:txBody>
      </p:sp>
      <p:sp>
        <p:nvSpPr>
          <p:cNvPr id="211" name="Text 209"/>
          <p:cNvSpPr/>
          <p:nvPr/>
        </p:nvSpPr>
        <p:spPr>
          <a:xfrm>
            <a:off x="8129016" y="410565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$0.7k</a:t>
            </a:r>
            <a:endParaRPr lang="en-US" sz="600" dirty="0"/>
          </a:p>
        </p:txBody>
      </p:sp>
      <p:sp>
        <p:nvSpPr>
          <p:cNvPr id="212" name="Shape 210"/>
          <p:cNvSpPr/>
          <p:nvPr/>
        </p:nvSpPr>
        <p:spPr>
          <a:xfrm>
            <a:off x="8690719" y="4355083"/>
            <a:ext cx="457200" cy="482093"/>
          </a:xfrm>
          <a:prstGeom prst="roundRect">
            <a:avLst>
              <a:gd name="adj" fmla="val 6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8672431" y="4855464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endParaRPr lang="en-US" sz="650" dirty="0"/>
          </a:p>
        </p:txBody>
      </p:sp>
      <p:sp>
        <p:nvSpPr>
          <p:cNvPr id="214" name="Text 212"/>
          <p:cNvSpPr/>
          <p:nvPr/>
        </p:nvSpPr>
        <p:spPr>
          <a:xfrm>
            <a:off x="8644999" y="4190491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$0.6k</a:t>
            </a:r>
            <a:endParaRPr lang="en-US" sz="600" dirty="0"/>
          </a:p>
        </p:txBody>
      </p:sp>
      <p:sp>
        <p:nvSpPr>
          <p:cNvPr id="215" name="Shape 213"/>
          <p:cNvSpPr/>
          <p:nvPr/>
        </p:nvSpPr>
        <p:spPr>
          <a:xfrm>
            <a:off x="9206702" y="4497019"/>
            <a:ext cx="457200" cy="340157"/>
          </a:xfrm>
          <a:prstGeom prst="roundRect">
            <a:avLst>
              <a:gd name="adj" fmla="val 806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9188414" y="4855464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</a:t>
            </a:r>
            <a:endParaRPr lang="en-US" sz="650" dirty="0"/>
          </a:p>
        </p:txBody>
      </p:sp>
      <p:sp>
        <p:nvSpPr>
          <p:cNvPr id="217" name="Text 215"/>
          <p:cNvSpPr/>
          <p:nvPr/>
        </p:nvSpPr>
        <p:spPr>
          <a:xfrm>
            <a:off x="9160982" y="4332427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$0.4k</a:t>
            </a:r>
            <a:endParaRPr lang="en-US" sz="600" dirty="0"/>
          </a:p>
        </p:txBody>
      </p:sp>
      <p:sp>
        <p:nvSpPr>
          <p:cNvPr id="218" name="Shape 216"/>
          <p:cNvSpPr/>
          <p:nvPr/>
        </p:nvSpPr>
        <p:spPr>
          <a:xfrm>
            <a:off x="9722685" y="4525570"/>
            <a:ext cx="457200" cy="311606"/>
          </a:xfrm>
          <a:prstGeom prst="roundRect">
            <a:avLst>
              <a:gd name="adj" fmla="val 8803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9704397" y="4855464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220" name="Text 218"/>
          <p:cNvSpPr/>
          <p:nvPr/>
        </p:nvSpPr>
        <p:spPr>
          <a:xfrm>
            <a:off x="9676965" y="436097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$0.4k</a:t>
            </a:r>
            <a:endParaRPr lang="en-US" sz="600" dirty="0"/>
          </a:p>
        </p:txBody>
      </p:sp>
      <p:sp>
        <p:nvSpPr>
          <p:cNvPr id="221" name="Shape 219"/>
          <p:cNvSpPr/>
          <p:nvPr/>
        </p:nvSpPr>
        <p:spPr>
          <a:xfrm>
            <a:off x="10238667" y="4567987"/>
            <a:ext cx="457200" cy="269189"/>
          </a:xfrm>
          <a:prstGeom prst="roundRect">
            <a:avLst>
              <a:gd name="adj" fmla="val 10191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10220379" y="4855464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</a:t>
            </a:r>
            <a:endParaRPr lang="en-US" sz="650" dirty="0"/>
          </a:p>
        </p:txBody>
      </p:sp>
      <p:sp>
        <p:nvSpPr>
          <p:cNvPr id="223" name="Text 221"/>
          <p:cNvSpPr/>
          <p:nvPr/>
        </p:nvSpPr>
        <p:spPr>
          <a:xfrm>
            <a:off x="10192947" y="4403395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$0.3k</a:t>
            </a:r>
            <a:endParaRPr lang="en-US" sz="600" dirty="0"/>
          </a:p>
        </p:txBody>
      </p:sp>
      <p:sp>
        <p:nvSpPr>
          <p:cNvPr id="224" name="Shape 222"/>
          <p:cNvSpPr/>
          <p:nvPr/>
        </p:nvSpPr>
        <p:spPr>
          <a:xfrm>
            <a:off x="10754650" y="4610405"/>
            <a:ext cx="457200" cy="226771"/>
          </a:xfrm>
          <a:prstGeom prst="roundRect">
            <a:avLst>
              <a:gd name="adj" fmla="val 12097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10736362" y="4855464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</a:t>
            </a:r>
            <a:endParaRPr lang="en-US" sz="650" dirty="0"/>
          </a:p>
        </p:txBody>
      </p:sp>
      <p:sp>
        <p:nvSpPr>
          <p:cNvPr id="226" name="Shape 224"/>
          <p:cNvSpPr/>
          <p:nvPr/>
        </p:nvSpPr>
        <p:spPr>
          <a:xfrm>
            <a:off x="11270633" y="4666690"/>
            <a:ext cx="457200" cy="170486"/>
          </a:xfrm>
          <a:prstGeom prst="roundRect">
            <a:avLst>
              <a:gd name="adj" fmla="val 16090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11252345" y="4855464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228" name="Shape 226"/>
          <p:cNvSpPr/>
          <p:nvPr/>
        </p:nvSpPr>
        <p:spPr>
          <a:xfrm>
            <a:off x="8156448" y="4837176"/>
            <a:ext cx="363016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365760" y="5221224"/>
            <a:ext cx="3794760" cy="1389888"/>
          </a:xfrm>
          <a:prstGeom prst="roundRect">
            <a:avLst>
              <a:gd name="adj" fmla="val 4605"/>
            </a:avLst>
          </a:prstGeom>
          <a:solidFill>
            <a:srgbClr val="FFFDE7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457200" y="526694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Die-Cast Cars &amp; Figures</a:t>
            </a:r>
            <a:endParaRPr lang="en-US" sz="900" dirty="0"/>
          </a:p>
        </p:txBody>
      </p:sp>
      <p:sp>
        <p:nvSpPr>
          <p:cNvPr id="231" name="Text 229"/>
          <p:cNvSpPr/>
          <p:nvPr/>
        </p:nvSpPr>
        <p:spPr>
          <a:xfrm>
            <a:off x="2642616" y="5266944"/>
            <a:ext cx="13661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$2,787</a:t>
            </a:r>
            <a:endParaRPr lang="en-US" sz="1000" dirty="0"/>
          </a:p>
        </p:txBody>
      </p:sp>
      <p:sp>
        <p:nvSpPr>
          <p:cNvPr id="232" name="Shape 230"/>
          <p:cNvSpPr/>
          <p:nvPr/>
        </p:nvSpPr>
        <p:spPr>
          <a:xfrm>
            <a:off x="457200" y="5751576"/>
            <a:ext cx="405765" cy="566928"/>
          </a:xfrm>
          <a:prstGeom prst="roundRect">
            <a:avLst>
              <a:gd name="adj" fmla="val 676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438912" y="6336792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650" dirty="0"/>
          </a:p>
        </p:txBody>
      </p:sp>
      <p:sp>
        <p:nvSpPr>
          <p:cNvPr id="234" name="Text 232"/>
          <p:cNvSpPr/>
          <p:nvPr/>
        </p:nvSpPr>
        <p:spPr>
          <a:xfrm>
            <a:off x="411480" y="5586984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$0.7k</a:t>
            </a:r>
            <a:endParaRPr lang="en-US" sz="600" dirty="0"/>
          </a:p>
        </p:txBody>
      </p:sp>
      <p:sp>
        <p:nvSpPr>
          <p:cNvPr id="235" name="Shape 233"/>
          <p:cNvSpPr/>
          <p:nvPr/>
        </p:nvSpPr>
        <p:spPr>
          <a:xfrm>
            <a:off x="908685" y="5929168"/>
            <a:ext cx="405765" cy="389336"/>
          </a:xfrm>
          <a:prstGeom prst="roundRect">
            <a:avLst>
              <a:gd name="adj" fmla="val 7046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890397" y="6336792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</a:t>
            </a:r>
            <a:endParaRPr lang="en-US" sz="650" dirty="0"/>
          </a:p>
        </p:txBody>
      </p:sp>
      <p:sp>
        <p:nvSpPr>
          <p:cNvPr id="237" name="Text 235"/>
          <p:cNvSpPr/>
          <p:nvPr/>
        </p:nvSpPr>
        <p:spPr>
          <a:xfrm>
            <a:off x="862965" y="5764576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$0.5k</a:t>
            </a:r>
            <a:endParaRPr lang="en-US" sz="600" dirty="0"/>
          </a:p>
        </p:txBody>
      </p:sp>
      <p:sp>
        <p:nvSpPr>
          <p:cNvPr id="238" name="Shape 236"/>
          <p:cNvSpPr/>
          <p:nvPr/>
        </p:nvSpPr>
        <p:spPr>
          <a:xfrm>
            <a:off x="1360170" y="5947952"/>
            <a:ext cx="405765" cy="370552"/>
          </a:xfrm>
          <a:prstGeom prst="roundRect">
            <a:avLst>
              <a:gd name="adj" fmla="val 740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1341882" y="6336792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</a:t>
            </a:r>
            <a:endParaRPr lang="en-US" sz="650" dirty="0"/>
          </a:p>
        </p:txBody>
      </p:sp>
      <p:sp>
        <p:nvSpPr>
          <p:cNvPr id="240" name="Text 238"/>
          <p:cNvSpPr/>
          <p:nvPr/>
        </p:nvSpPr>
        <p:spPr>
          <a:xfrm>
            <a:off x="1314450" y="5783360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$0.4k</a:t>
            </a:r>
            <a:endParaRPr lang="en-US" sz="600" dirty="0"/>
          </a:p>
        </p:txBody>
      </p:sp>
      <p:sp>
        <p:nvSpPr>
          <p:cNvPr id="241" name="Shape 239"/>
          <p:cNvSpPr/>
          <p:nvPr/>
        </p:nvSpPr>
        <p:spPr>
          <a:xfrm>
            <a:off x="1811655" y="5955636"/>
            <a:ext cx="405765" cy="362868"/>
          </a:xfrm>
          <a:prstGeom prst="roundRect">
            <a:avLst>
              <a:gd name="adj" fmla="val 7560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1793367" y="6336792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endParaRPr lang="en-US" sz="650" dirty="0"/>
          </a:p>
        </p:txBody>
      </p:sp>
      <p:sp>
        <p:nvSpPr>
          <p:cNvPr id="243" name="Text 241"/>
          <p:cNvSpPr/>
          <p:nvPr/>
        </p:nvSpPr>
        <p:spPr>
          <a:xfrm>
            <a:off x="1765935" y="5791044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$0.4k</a:t>
            </a:r>
            <a:endParaRPr lang="en-US" sz="600" dirty="0"/>
          </a:p>
        </p:txBody>
      </p:sp>
      <p:sp>
        <p:nvSpPr>
          <p:cNvPr id="244" name="Shape 242"/>
          <p:cNvSpPr/>
          <p:nvPr/>
        </p:nvSpPr>
        <p:spPr>
          <a:xfrm>
            <a:off x="2263140" y="6041870"/>
            <a:ext cx="405765" cy="276634"/>
          </a:xfrm>
          <a:prstGeom prst="roundRect">
            <a:avLst>
              <a:gd name="adj" fmla="val 9916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2244852" y="6336792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246" name="Text 244"/>
          <p:cNvSpPr/>
          <p:nvPr/>
        </p:nvSpPr>
        <p:spPr>
          <a:xfrm>
            <a:off x="2217420" y="5877278"/>
            <a:ext cx="49720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$0.3k</a:t>
            </a:r>
            <a:endParaRPr lang="en-US" sz="600" dirty="0"/>
          </a:p>
        </p:txBody>
      </p:sp>
      <p:sp>
        <p:nvSpPr>
          <p:cNvPr id="247" name="Shape 245"/>
          <p:cNvSpPr/>
          <p:nvPr/>
        </p:nvSpPr>
        <p:spPr>
          <a:xfrm>
            <a:off x="2714625" y="6086268"/>
            <a:ext cx="405765" cy="232236"/>
          </a:xfrm>
          <a:prstGeom prst="roundRect">
            <a:avLst>
              <a:gd name="adj" fmla="val 11812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2696337" y="6336792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</a:t>
            </a:r>
            <a:endParaRPr lang="en-US" sz="650" dirty="0"/>
          </a:p>
        </p:txBody>
      </p:sp>
      <p:sp>
        <p:nvSpPr>
          <p:cNvPr id="249" name="Shape 247"/>
          <p:cNvSpPr/>
          <p:nvPr/>
        </p:nvSpPr>
        <p:spPr>
          <a:xfrm>
            <a:off x="3166110" y="6167380"/>
            <a:ext cx="405765" cy="151124"/>
          </a:xfrm>
          <a:prstGeom prst="roundRect">
            <a:avLst>
              <a:gd name="adj" fmla="val 18152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3147822" y="6336792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251" name="Shape 249"/>
          <p:cNvSpPr/>
          <p:nvPr/>
        </p:nvSpPr>
        <p:spPr>
          <a:xfrm>
            <a:off x="3617595" y="6281928"/>
            <a:ext cx="405765" cy="36576"/>
          </a:xfrm>
          <a:prstGeom prst="roundRect">
            <a:avLst>
              <a:gd name="adj" fmla="val 75000"/>
            </a:avLst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3599307" y="6336792"/>
            <a:ext cx="4423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</a:t>
            </a:r>
            <a:endParaRPr lang="en-US" sz="650" dirty="0"/>
          </a:p>
        </p:txBody>
      </p:sp>
      <p:sp>
        <p:nvSpPr>
          <p:cNvPr id="253" name="Shape 251"/>
          <p:cNvSpPr/>
          <p:nvPr/>
        </p:nvSpPr>
        <p:spPr>
          <a:xfrm>
            <a:off x="438912" y="6318504"/>
            <a:ext cx="363016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224528" y="5221224"/>
            <a:ext cx="3794760" cy="1389888"/>
          </a:xfrm>
          <a:prstGeom prst="roundRect">
            <a:avLst>
              <a:gd name="adj" fmla="val 4605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4315968" y="526694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Plush</a:t>
            </a:r>
            <a:endParaRPr lang="en-US" sz="900" dirty="0"/>
          </a:p>
        </p:txBody>
      </p:sp>
      <p:sp>
        <p:nvSpPr>
          <p:cNvPr id="256" name="Text 254"/>
          <p:cNvSpPr/>
          <p:nvPr/>
        </p:nvSpPr>
        <p:spPr>
          <a:xfrm>
            <a:off x="6501384" y="5266944"/>
            <a:ext cx="13661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$2,738</a:t>
            </a:r>
            <a:endParaRPr lang="en-US" sz="1000" dirty="0"/>
          </a:p>
        </p:txBody>
      </p:sp>
      <p:sp>
        <p:nvSpPr>
          <p:cNvPr id="257" name="Shape 255"/>
          <p:cNvSpPr/>
          <p:nvPr/>
        </p:nvSpPr>
        <p:spPr>
          <a:xfrm>
            <a:off x="4315968" y="5751576"/>
            <a:ext cx="457200" cy="56692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4297680" y="6336792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</a:t>
            </a:r>
            <a:endParaRPr lang="en-US" sz="650" dirty="0"/>
          </a:p>
        </p:txBody>
      </p:sp>
      <p:sp>
        <p:nvSpPr>
          <p:cNvPr id="259" name="Text 257"/>
          <p:cNvSpPr/>
          <p:nvPr/>
        </p:nvSpPr>
        <p:spPr>
          <a:xfrm>
            <a:off x="4270248" y="558698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$0.7k</a:t>
            </a:r>
            <a:endParaRPr lang="en-US" sz="600" dirty="0"/>
          </a:p>
        </p:txBody>
      </p:sp>
      <p:sp>
        <p:nvSpPr>
          <p:cNvPr id="260" name="Shape 258"/>
          <p:cNvSpPr/>
          <p:nvPr/>
        </p:nvSpPr>
        <p:spPr>
          <a:xfrm>
            <a:off x="4831951" y="5808269"/>
            <a:ext cx="457200" cy="510235"/>
          </a:xfrm>
          <a:prstGeom prst="roundRect">
            <a:avLst>
              <a:gd name="adj" fmla="val 6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4813663" y="6336792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endParaRPr lang="en-US" sz="650" dirty="0"/>
          </a:p>
        </p:txBody>
      </p:sp>
      <p:sp>
        <p:nvSpPr>
          <p:cNvPr id="262" name="Text 260"/>
          <p:cNvSpPr/>
          <p:nvPr/>
        </p:nvSpPr>
        <p:spPr>
          <a:xfrm>
            <a:off x="4786231" y="5643677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$0.6k</a:t>
            </a:r>
            <a:endParaRPr lang="en-US" sz="600" dirty="0"/>
          </a:p>
        </p:txBody>
      </p:sp>
      <p:sp>
        <p:nvSpPr>
          <p:cNvPr id="263" name="Shape 261"/>
          <p:cNvSpPr/>
          <p:nvPr/>
        </p:nvSpPr>
        <p:spPr>
          <a:xfrm>
            <a:off x="5347934" y="5891733"/>
            <a:ext cx="457200" cy="426771"/>
          </a:xfrm>
          <a:prstGeom prst="roundRect">
            <a:avLst>
              <a:gd name="adj" fmla="val 642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5329646" y="6336792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5302214" y="5727141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$0.5k</a:t>
            </a:r>
            <a:endParaRPr lang="en-US" sz="600" dirty="0"/>
          </a:p>
        </p:txBody>
      </p:sp>
      <p:sp>
        <p:nvSpPr>
          <p:cNvPr id="266" name="Shape 264"/>
          <p:cNvSpPr/>
          <p:nvPr/>
        </p:nvSpPr>
        <p:spPr>
          <a:xfrm>
            <a:off x="5863917" y="6001182"/>
            <a:ext cx="457200" cy="317322"/>
          </a:xfrm>
          <a:prstGeom prst="roundRect">
            <a:avLst>
              <a:gd name="adj" fmla="val 8645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5845629" y="6336792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</a:t>
            </a:r>
            <a:endParaRPr lang="en-US" sz="650" dirty="0"/>
          </a:p>
        </p:txBody>
      </p:sp>
      <p:sp>
        <p:nvSpPr>
          <p:cNvPr id="268" name="Text 266"/>
          <p:cNvSpPr/>
          <p:nvPr/>
        </p:nvSpPr>
        <p:spPr>
          <a:xfrm>
            <a:off x="5818197" y="583659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$0.4k</a:t>
            </a:r>
            <a:endParaRPr lang="en-US" sz="600" dirty="0"/>
          </a:p>
        </p:txBody>
      </p:sp>
      <p:sp>
        <p:nvSpPr>
          <p:cNvPr id="269" name="Shape 267"/>
          <p:cNvSpPr/>
          <p:nvPr/>
        </p:nvSpPr>
        <p:spPr>
          <a:xfrm>
            <a:off x="6379899" y="6162599"/>
            <a:ext cx="457200" cy="155905"/>
          </a:xfrm>
          <a:prstGeom prst="roundRect">
            <a:avLst>
              <a:gd name="adj" fmla="val 17595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6361611" y="6336792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650" dirty="0"/>
          </a:p>
        </p:txBody>
      </p:sp>
      <p:sp>
        <p:nvSpPr>
          <p:cNvPr id="271" name="Text 269"/>
          <p:cNvSpPr/>
          <p:nvPr/>
        </p:nvSpPr>
        <p:spPr>
          <a:xfrm>
            <a:off x="6334179" y="5998007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$0.2k</a:t>
            </a:r>
            <a:endParaRPr lang="en-US" sz="600" dirty="0"/>
          </a:p>
        </p:txBody>
      </p:sp>
      <p:sp>
        <p:nvSpPr>
          <p:cNvPr id="272" name="Shape 270"/>
          <p:cNvSpPr/>
          <p:nvPr/>
        </p:nvSpPr>
        <p:spPr>
          <a:xfrm>
            <a:off x="6895882" y="6187796"/>
            <a:ext cx="457200" cy="130708"/>
          </a:xfrm>
          <a:prstGeom prst="roundRect">
            <a:avLst>
              <a:gd name="adj" fmla="val 20987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6877594" y="6336792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</a:t>
            </a:r>
            <a:endParaRPr lang="en-US" sz="650" dirty="0"/>
          </a:p>
        </p:txBody>
      </p:sp>
      <p:sp>
        <p:nvSpPr>
          <p:cNvPr id="274" name="Shape 272"/>
          <p:cNvSpPr/>
          <p:nvPr/>
        </p:nvSpPr>
        <p:spPr>
          <a:xfrm>
            <a:off x="7411865" y="6270473"/>
            <a:ext cx="457200" cy="48031"/>
          </a:xfrm>
          <a:prstGeom prst="roundRect">
            <a:avLst>
              <a:gd name="adj" fmla="val 57113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7393577" y="6336792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276" name="Shape 274"/>
          <p:cNvSpPr/>
          <p:nvPr/>
        </p:nvSpPr>
        <p:spPr>
          <a:xfrm>
            <a:off x="4297680" y="6318504"/>
            <a:ext cx="363016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083296" y="5221224"/>
            <a:ext cx="3794760" cy="1389888"/>
          </a:xfrm>
          <a:prstGeom prst="roundRect">
            <a:avLst>
              <a:gd name="adj" fmla="val 4605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8174736" y="526694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Ichiban Kuji</a:t>
            </a:r>
            <a:endParaRPr lang="en-US" sz="900" dirty="0"/>
          </a:p>
        </p:txBody>
      </p:sp>
      <p:sp>
        <p:nvSpPr>
          <p:cNvPr id="279" name="Text 277"/>
          <p:cNvSpPr/>
          <p:nvPr/>
        </p:nvSpPr>
        <p:spPr>
          <a:xfrm>
            <a:off x="10360152" y="5266944"/>
            <a:ext cx="13661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$2,499</a:t>
            </a:r>
            <a:endParaRPr lang="en-US" sz="1000" dirty="0"/>
          </a:p>
        </p:txBody>
      </p:sp>
      <p:sp>
        <p:nvSpPr>
          <p:cNvPr id="280" name="Shape 278"/>
          <p:cNvSpPr/>
          <p:nvPr/>
        </p:nvSpPr>
        <p:spPr>
          <a:xfrm>
            <a:off x="8174736" y="5751576"/>
            <a:ext cx="457200" cy="56692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8156448" y="6336792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</a:t>
            </a:r>
            <a:endParaRPr lang="en-US" sz="650" dirty="0"/>
          </a:p>
        </p:txBody>
      </p:sp>
      <p:sp>
        <p:nvSpPr>
          <p:cNvPr id="282" name="Text 280"/>
          <p:cNvSpPr/>
          <p:nvPr/>
        </p:nvSpPr>
        <p:spPr>
          <a:xfrm>
            <a:off x="8129016" y="558698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$1.3k</a:t>
            </a:r>
            <a:endParaRPr lang="en-US" sz="600" dirty="0"/>
          </a:p>
        </p:txBody>
      </p:sp>
      <p:sp>
        <p:nvSpPr>
          <p:cNvPr id="283" name="Shape 281"/>
          <p:cNvSpPr/>
          <p:nvPr/>
        </p:nvSpPr>
        <p:spPr>
          <a:xfrm>
            <a:off x="8690719" y="6136479"/>
            <a:ext cx="457200" cy="182025"/>
          </a:xfrm>
          <a:prstGeom prst="roundRect">
            <a:avLst>
              <a:gd name="adj" fmla="val 1507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8672431" y="6336792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</a:t>
            </a:r>
            <a:endParaRPr lang="en-US" sz="650" dirty="0"/>
          </a:p>
        </p:txBody>
      </p:sp>
      <p:sp>
        <p:nvSpPr>
          <p:cNvPr id="285" name="Text 283"/>
          <p:cNvSpPr/>
          <p:nvPr/>
        </p:nvSpPr>
        <p:spPr>
          <a:xfrm>
            <a:off x="8644999" y="5971887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$0.4k</a:t>
            </a:r>
            <a:endParaRPr lang="en-US" sz="600" dirty="0"/>
          </a:p>
        </p:txBody>
      </p:sp>
      <p:sp>
        <p:nvSpPr>
          <p:cNvPr id="286" name="Shape 284"/>
          <p:cNvSpPr/>
          <p:nvPr/>
        </p:nvSpPr>
        <p:spPr>
          <a:xfrm>
            <a:off x="9206702" y="6195995"/>
            <a:ext cx="457200" cy="122509"/>
          </a:xfrm>
          <a:prstGeom prst="roundRect">
            <a:avLst>
              <a:gd name="adj" fmla="val 2239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9188414" y="6336792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endParaRPr lang="en-US" sz="650" dirty="0"/>
          </a:p>
        </p:txBody>
      </p:sp>
      <p:sp>
        <p:nvSpPr>
          <p:cNvPr id="288" name="Text 286"/>
          <p:cNvSpPr/>
          <p:nvPr/>
        </p:nvSpPr>
        <p:spPr>
          <a:xfrm>
            <a:off x="9160982" y="6031403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$0.3k</a:t>
            </a:r>
            <a:endParaRPr lang="en-US" sz="600" dirty="0"/>
          </a:p>
        </p:txBody>
      </p:sp>
      <p:sp>
        <p:nvSpPr>
          <p:cNvPr id="289" name="Shape 287"/>
          <p:cNvSpPr/>
          <p:nvPr/>
        </p:nvSpPr>
        <p:spPr>
          <a:xfrm>
            <a:off x="9722685" y="6214676"/>
            <a:ext cx="457200" cy="103828"/>
          </a:xfrm>
          <a:prstGeom prst="roundRect">
            <a:avLst>
              <a:gd name="adj" fmla="val 26421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9704397" y="6336792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291" name="Text 289"/>
          <p:cNvSpPr/>
          <p:nvPr/>
        </p:nvSpPr>
        <p:spPr>
          <a:xfrm>
            <a:off x="9676965" y="605008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$0.2k</a:t>
            </a:r>
            <a:endParaRPr lang="en-US" sz="600" dirty="0"/>
          </a:p>
        </p:txBody>
      </p:sp>
      <p:sp>
        <p:nvSpPr>
          <p:cNvPr id="292" name="Shape 290"/>
          <p:cNvSpPr/>
          <p:nvPr/>
        </p:nvSpPr>
        <p:spPr>
          <a:xfrm>
            <a:off x="10238667" y="6261160"/>
            <a:ext cx="457200" cy="57344"/>
          </a:xfrm>
          <a:prstGeom prst="roundRect">
            <a:avLst>
              <a:gd name="adj" fmla="val 47838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10220379" y="6336792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</a:t>
            </a:r>
            <a:endParaRPr lang="en-US" sz="650" dirty="0"/>
          </a:p>
        </p:txBody>
      </p:sp>
      <p:sp>
        <p:nvSpPr>
          <p:cNvPr id="294" name="Text 292"/>
          <p:cNvSpPr/>
          <p:nvPr/>
        </p:nvSpPr>
        <p:spPr>
          <a:xfrm>
            <a:off x="10192947" y="60965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$0.1k</a:t>
            </a:r>
            <a:endParaRPr lang="en-US" sz="600" dirty="0"/>
          </a:p>
        </p:txBody>
      </p:sp>
      <p:sp>
        <p:nvSpPr>
          <p:cNvPr id="295" name="Shape 293"/>
          <p:cNvSpPr/>
          <p:nvPr/>
        </p:nvSpPr>
        <p:spPr>
          <a:xfrm>
            <a:off x="10754650" y="6281928"/>
            <a:ext cx="457200" cy="36576"/>
          </a:xfrm>
          <a:prstGeom prst="roundRect">
            <a:avLst>
              <a:gd name="adj" fmla="val 75000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10736362" y="6336792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</a:t>
            </a:r>
            <a:endParaRPr lang="en-US" sz="650" dirty="0"/>
          </a:p>
        </p:txBody>
      </p:sp>
      <p:sp>
        <p:nvSpPr>
          <p:cNvPr id="297" name="Shape 295"/>
          <p:cNvSpPr/>
          <p:nvPr/>
        </p:nvSpPr>
        <p:spPr>
          <a:xfrm>
            <a:off x="11270633" y="6281928"/>
            <a:ext cx="457200" cy="36576"/>
          </a:xfrm>
          <a:prstGeom prst="roundRect">
            <a:avLst>
              <a:gd name="adj" fmla="val 75000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11252345" y="6336792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</a:t>
            </a:r>
            <a:endParaRPr lang="en-US" sz="650" dirty="0"/>
          </a:p>
        </p:txBody>
      </p:sp>
      <p:sp>
        <p:nvSpPr>
          <p:cNvPr id="299" name="Shape 297"/>
          <p:cNvSpPr/>
          <p:nvPr/>
        </p:nvSpPr>
        <p:spPr>
          <a:xfrm>
            <a:off x="8156448" y="6318504"/>
            <a:ext cx="363016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This Week YoY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241280" y="9144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91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94944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182880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49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67712" y="749808"/>
            <a:ext cx="137160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67712" y="749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12464" y="749808"/>
            <a:ext cx="137160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749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57216" y="749808"/>
            <a:ext cx="91440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7498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4768" y="749808"/>
            <a:ext cx="137160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749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9520" y="749808"/>
            <a:ext cx="438912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749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1170432"/>
            <a:ext cx="11430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126187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22576" y="126187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$36,142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67328" y="126187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$33,242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126187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+8.7%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99632" y="126187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44384" y="1261872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1792224"/>
            <a:ext cx="114300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188366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22576" y="188366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$43,196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67328" y="188366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$26,293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188366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+64.3%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9632" y="188366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$18,839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44384" y="1883664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2414016"/>
            <a:ext cx="11430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250545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22576" y="250545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$65,452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67328" y="250545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$43,038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250545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+52.1%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99632" y="250545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$29,954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44384" y="2505456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3035808"/>
            <a:ext cx="114300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" y="312724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322576" y="31272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$80,402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767328" y="31272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$42,453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12080" y="312724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+89.4%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99632" y="31272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$30,260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44384" y="3127248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3657600"/>
            <a:ext cx="11430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" y="374904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322576" y="374904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$25,723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767328" y="374904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$26,293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12080" y="37490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-2.2%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199632" y="374904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$18,839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644384" y="3749040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Pre-opening: using Papanui as proxy (opened WK46)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" y="4279392"/>
            <a:ext cx="114300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" y="437083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322576" y="437083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$103,361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767328" y="437083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$51,800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12080" y="437083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+99.5%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199632" y="437083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$31,885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644384" y="4370832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65760" y="4901184"/>
            <a:ext cx="11430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624" y="499262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322576" y="499262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$56,246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767328" y="499262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$30,478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212080" y="499262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+84.5%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199632" y="499262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$19,816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644384" y="4992624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Pop! Vinyl — Deep Dive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241280" y="9144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91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94944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22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$51,133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7772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822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$35,538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Same Wk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7772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822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+43.9%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23760" y="7772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0" y="822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Same Wk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509760" y="7772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0" y="822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Same Wk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3774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(IKON · L1W)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743200"/>
            <a:ext cx="320040" cy="31089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74320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" y="2743200"/>
            <a:ext cx="1188720" cy="31089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" y="27432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47672" y="2743200"/>
            <a:ext cx="4114800" cy="31089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47672" y="27432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99048" y="2743200"/>
            <a:ext cx="685800" cy="31089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9048" y="27432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21424" y="2743200"/>
            <a:ext cx="685800" cy="31089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21424" y="27432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43800" y="2743200"/>
            <a:ext cx="822960" cy="31089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27432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090672"/>
            <a:ext cx="7854696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3145536"/>
            <a:ext cx="265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9808" y="3145536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FUN86594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75104" y="3145536"/>
            <a:ext cx="4059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Girls - Baby Spice (Wannabe) Pop! Vinyl Figure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26480" y="3145536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48856" y="3145536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71232" y="3145536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529584"/>
            <a:ext cx="7854696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3192" y="3584448"/>
            <a:ext cx="265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9808" y="3584448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FUN86595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975104" y="3584448"/>
            <a:ext cx="4059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Girls - Ginger Spice (Wannabe) Pop! Vinyl Figure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26480" y="3584448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48856" y="3584448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571232" y="3584448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3968496"/>
            <a:ext cx="7854696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" y="4023360"/>
            <a:ext cx="265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49808" y="4023360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FUN86597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975104" y="4023360"/>
            <a:ext cx="4059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Girls - Scary Spice (Wannabe) Pop! Vinyl Figure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26480" y="4023360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848856" y="4023360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571232" y="4023360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4407408"/>
            <a:ext cx="7854696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3192" y="4462272"/>
            <a:ext cx="265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49808" y="4462272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FUN86598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975104" y="4462272"/>
            <a:ext cx="4059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Girls - Sporty Spice (Wannabe) Pop! Vinyl Figure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126480" y="4462272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848856" y="4462272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571232" y="4462272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5760" y="4846320"/>
            <a:ext cx="7854696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3192" y="4901184"/>
            <a:ext cx="265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49808" y="4901184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FUN86596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975104" y="4901184"/>
            <a:ext cx="4059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Girls - Posh Spice (Wannabe) Pop! Vinyl Figure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126480" y="4901184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848856" y="4901184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571232" y="4901184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65760" y="5285232"/>
            <a:ext cx="7854696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3192" y="5340096"/>
            <a:ext cx="265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49808" y="5340096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FUN85326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975104" y="5340096"/>
            <a:ext cx="4059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Satoru Gojo (Hidden Inventory) Pop! Vinyl Figure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126480" y="5340096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848856" y="5340096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571232" y="5340096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65760" y="5724144"/>
            <a:ext cx="7854696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93192" y="5779008"/>
            <a:ext cx="265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49808" y="5779008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FUN83963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975104" y="5779008"/>
            <a:ext cx="4059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Spider-Man: Brand New Day - Spider-Man Pop! Vinyl Figure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126480" y="5779008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848856" y="5779008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571232" y="5779008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$31.99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65760" y="6163056"/>
            <a:ext cx="7854696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93192" y="6217920"/>
            <a:ext cx="265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49808" y="6217920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FUN91997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975104" y="6217920"/>
            <a:ext cx="4059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0 - Gojo Red Energy (US Exclusive) Pop! Vinyl Figu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126480" y="6217920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6848856" y="6217920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7571232" y="6217920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$31.99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046720" y="2377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Revenue Comparison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8412480" y="5989320"/>
            <a:ext cx="685800" cy="45720"/>
          </a:xfrm>
          <a:prstGeom prst="roundRect">
            <a:avLst>
              <a:gd name="adj" fmla="val 100000"/>
            </a:avLst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21040" y="56692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321040" y="60807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9281160" y="5989320"/>
            <a:ext cx="685800" cy="45720"/>
          </a:xfrm>
          <a:prstGeom prst="roundRect">
            <a:avLst>
              <a:gd name="adj" fmla="val 100000"/>
            </a:avLst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189720" y="56692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9189720" y="60807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10149840" y="3810727"/>
            <a:ext cx="685800" cy="2224313"/>
          </a:xfrm>
          <a:prstGeom prst="roundRect">
            <a:avLst>
              <a:gd name="adj" fmla="val 6667"/>
            </a:avLst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058400" y="3490687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$35,538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10058400" y="60807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11018520" y="2834640"/>
            <a:ext cx="685800" cy="3200400"/>
          </a:xfrm>
          <a:prstGeom prst="roundRect">
            <a:avLst>
              <a:gd name="adj" fmla="val 6667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927080" y="2514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$51,133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10927080" y="60807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8321040" y="6035040"/>
            <a:ext cx="34747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Die-Cast Cars &amp; Figures — Deep Dive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241280" y="9144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91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94944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22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$2,787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7772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822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$3,785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Same Wk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7772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822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-26.4%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23760" y="7772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0" y="822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Same Wk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509760" y="7772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0" y="822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Same Wk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3774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(IKON · L1W)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743200"/>
            <a:ext cx="32004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74320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" y="2743200"/>
            <a:ext cx="11887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" y="27432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47672" y="2743200"/>
            <a:ext cx="411480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47672" y="27432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99048" y="2743200"/>
            <a:ext cx="68580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9048" y="27432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21424" y="2743200"/>
            <a:ext cx="68580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21424" y="27432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43800" y="2743200"/>
            <a:ext cx="82296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27432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090672"/>
            <a:ext cx="7854696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3145536"/>
            <a:ext cx="265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9808" y="3145536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JAD30736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75104" y="3145536"/>
            <a:ext cx="4059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 - Han's Mazda RX-7 1:32 Hollywood Ride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26480" y="3145536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48856" y="3145536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71232" y="3145536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$22.99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529584"/>
            <a:ext cx="7854696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3192" y="3584448"/>
            <a:ext cx="265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9808" y="3584448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JAD97158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975104" y="3584448"/>
            <a:ext cx="4059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Furious - '02 Nissan Skyline GT-R 1:24 Scale Hollywood 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26480" y="3584448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48856" y="3584448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571232" y="3584448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3968496"/>
            <a:ext cx="7854696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" y="4023360"/>
            <a:ext cx="265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49808" y="4023360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JAD36805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975104" y="4023360"/>
            <a:ext cx="4059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 - Brians 1995 Toyota Supra Anniversary 1:24 Scale 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26480" y="4023360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848856" y="4023360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571232" y="4023360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4407408"/>
            <a:ext cx="7854696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3192" y="4462272"/>
            <a:ext cx="265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49808" y="4462272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JAD98398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975104" y="4462272"/>
            <a:ext cx="4059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- Western Star Truck Optimus Prime Free Rolling 1:32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126480" y="4462272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848856" y="4462272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571232" y="4462272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$22.99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5760" y="4846320"/>
            <a:ext cx="7854696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3192" y="4901184"/>
            <a:ext cx="265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49808" y="4901184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JAD36543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975104" y="4901184"/>
            <a:ext cx="4059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Slips - Lamborghini Gallardo Superleggera 1:24 Scale Diecast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126480" y="4901184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848856" y="4901184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571232" y="4901184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$64.99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65760" y="5285232"/>
            <a:ext cx="7854696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3192" y="5340096"/>
            <a:ext cx="265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49808" y="5340096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JAD35943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975104" y="5340096"/>
            <a:ext cx="4059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Ghostbusters - Ecto-1 Monster Truck 1:24 Scale Diecast Vehicle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126480" y="5340096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848856" y="5340096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571232" y="5340096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65760" y="5724144"/>
            <a:ext cx="7854696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93192" y="5779008"/>
            <a:ext cx="265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49808" y="5779008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JAD30738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975104" y="5779008"/>
            <a:ext cx="4059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 - 1995 Toyota Supra 1:24 with Brian Hollywood Ride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126480" y="5779008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848856" y="5779008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571232" y="5779008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65760" y="6163056"/>
            <a:ext cx="7854696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93192" y="6217920"/>
            <a:ext cx="265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49808" y="6217920"/>
            <a:ext cx="1133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JAD36027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975104" y="6217920"/>
            <a:ext cx="4059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Slips - 1987 Buick Grand National (Black) 1:24 Scale Diecast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126480" y="6217920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6848856" y="6217920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7571232" y="6217920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$64.99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046720" y="2377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Revenue Comparison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8412480" y="5989320"/>
            <a:ext cx="685800" cy="45720"/>
          </a:xfrm>
          <a:prstGeom prst="roundRect">
            <a:avLst>
              <a:gd name="adj" fmla="val 100000"/>
            </a:avLst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21040" y="56692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321040" y="60807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9281160" y="5989320"/>
            <a:ext cx="685800" cy="45720"/>
          </a:xfrm>
          <a:prstGeom prst="roundRect">
            <a:avLst>
              <a:gd name="adj" fmla="val 100000"/>
            </a:avLst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189720" y="56692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9189720" y="60807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10149840" y="2834640"/>
            <a:ext cx="685800" cy="3200400"/>
          </a:xfrm>
          <a:prstGeom prst="roundRect">
            <a:avLst>
              <a:gd name="adj" fmla="val 6667"/>
            </a:avLst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058400" y="2514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$3,785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10058400" y="60807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11018520" y="3678497"/>
            <a:ext cx="685800" cy="2356543"/>
          </a:xfrm>
          <a:prstGeom prst="roundRect">
            <a:avLst>
              <a:gd name="adj" fmla="val 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927080" y="3358457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$2,787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10927080" y="60807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8321040" y="6035040"/>
            <a:ext cx="34747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 2026  ·  PopStop Ltd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6217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Su  ·  Procurement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2026-07-20T23:41:24Z</dcterms:created>
  <dcterms:modified xsi:type="dcterms:W3CDTF">2026-07-20T23:41:24Z</dcterms:modified>
</cp:coreProperties>
</file>